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4E"/>
        </a:solidFill>
      </p:bgPr>
    </p:bg>
    <p:spTree>
      <p:nvGrpSpPr>
        <p:cNvPr id="1" name=""/>
        <p:cNvGrpSpPr/>
        <p:nvPr/>
      </p:nvGrpSpPr>
      <p:grpSpPr>
        <a:xfrm>
          <a:off x="0" y="0"/>
          <a:ext cx="0" cy="0"/>
          <a:chOff x="0" y="0"/>
          <a:chExt cx="0" cy="0"/>
        </a:xfrm>
      </p:grpSpPr>
      <p:sp>
        <p:nvSpPr>
          <p:cNvPr id="2" name="Text 0"/>
          <p:cNvSpPr txBox="1"/>
          <p:nvPr/>
        </p:nvSpPr>
        <p:spPr>
          <a:xfrm>
            <a:off x="548640" y="640080"/>
            <a:ext cx="5303520" cy="320040"/>
          </a:xfrm>
          <a:prstGeom prst="rect">
            <a:avLst/>
          </a:prstGeom>
          <a:noFill/>
          <a:ln/>
        </p:spPr>
        <p:txBody>
          <a:bodyPr wrap="square" lIns="0" tIns="0" rIns="0" bIns="0" rtlCol="0" anchor="ctr"/>
          <a:lstStyle/>
          <a:p>
            <a:pPr indent="0" marL="0">
              <a:buNone/>
            </a:pPr>
            <a:r>
              <a:rPr lang="en-US" sz="1400" b="1" spc="200" kern="0" dirty="0">
                <a:solidFill>
                  <a:srgbClr val="F7B32B"/>
                </a:solidFill>
                <a:latin typeface="Calibri" pitchFamily="34" charset="0"/>
                <a:ea typeface="Calibri" pitchFamily="34" charset="-122"/>
                <a:cs typeface="Calibri" pitchFamily="34" charset="-120"/>
              </a:rPr>
              <a:t>MARKETING  |  AGENTIC AI PROJECT</a:t>
            </a:r>
            <a:endParaRPr lang="en-US" sz="1400" dirty="0"/>
          </a:p>
        </p:txBody>
      </p:sp>
      <p:sp>
        <p:nvSpPr>
          <p:cNvPr id="3" name="Text 1"/>
          <p:cNvSpPr txBox="1"/>
          <p:nvPr/>
        </p:nvSpPr>
        <p:spPr>
          <a:xfrm>
            <a:off x="548640" y="1097280"/>
            <a:ext cx="5303520" cy="18288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AI Marketing Campaign Planning &amp; Content Agent</a:t>
            </a:r>
            <a:endParaRPr lang="en-US" sz="3600" dirty="0"/>
          </a:p>
        </p:txBody>
      </p:sp>
      <p:sp>
        <p:nvSpPr>
          <p:cNvPr id="4" name="Text 2"/>
          <p:cNvSpPr txBox="1"/>
          <p:nvPr/>
        </p:nvSpPr>
        <p:spPr>
          <a:xfrm>
            <a:off x="548640" y="3063240"/>
            <a:ext cx="5120640" cy="731520"/>
          </a:xfrm>
          <a:prstGeom prst="rect">
            <a:avLst/>
          </a:prstGeom>
          <a:noFill/>
          <a:ln/>
        </p:spPr>
        <p:txBody>
          <a:bodyPr wrap="square" lIns="0" tIns="0" rIns="0" bIns="0" rtlCol="0" anchor="t"/>
          <a:lstStyle/>
          <a:p>
            <a:pPr indent="0" marL="0">
              <a:buNone/>
            </a:pPr>
            <a:r>
              <a:rPr lang="en-US" sz="1400" dirty="0">
                <a:solidFill>
                  <a:srgbClr val="D9D0F2"/>
                </a:solidFill>
                <a:latin typeface="Calibri" pitchFamily="34" charset="0"/>
                <a:ea typeface="Calibri" pitchFamily="34" charset="-122"/>
                <a:cs typeface="Calibri" pitchFamily="34" charset="-120"/>
              </a:rPr>
              <a:t>Planning • Task Decomposition • Sequential Workflows • Agent Memory • Structured Outputs • Evaluation &amp; Testing</a:t>
            </a:r>
            <a:endParaRPr lang="en-US" sz="1400" dirty="0"/>
          </a:p>
        </p:txBody>
      </p:sp>
      <p:sp>
        <p:nvSpPr>
          <p:cNvPr id="5" name="Shape 3"/>
          <p:cNvSpPr/>
          <p:nvPr/>
        </p:nvSpPr>
        <p:spPr>
          <a:xfrm>
            <a:off x="6583680" y="1188720"/>
            <a:ext cx="1463040" cy="146304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6964070" y="1569110"/>
            <a:ext cx="702259" cy="702259"/>
          </a:xfrm>
          <a:prstGeom prst="rect">
            <a:avLst/>
          </a:prstGeom>
        </p:spPr>
      </p:pic>
      <p:sp>
        <p:nvSpPr>
          <p:cNvPr id="7" name="Shape 4"/>
          <p:cNvSpPr/>
          <p:nvPr/>
        </p:nvSpPr>
        <p:spPr>
          <a:xfrm>
            <a:off x="6035040" y="502920"/>
            <a:ext cx="640080" cy="640080"/>
          </a:xfrm>
          <a:prstGeom prst="ellipse">
            <a:avLst/>
          </a:prstGeom>
          <a:solidFill>
            <a:srgbClr val="4A3480"/>
          </a:solidFill>
          <a:ln w="12700">
            <a:solidFill>
              <a:srgbClr val="4A3480"/>
            </a:solidFill>
            <a:prstDash val="solid"/>
          </a:ln>
        </p:spPr>
      </p:sp>
      <p:pic>
        <p:nvPicPr>
          <p:cNvPr id="8" name="Image 1" descr="preencoded.png">    </p:cNvPr>
          <p:cNvPicPr>
            <a:picLocks noChangeAspect="1"/>
          </p:cNvPicPr>
          <p:nvPr/>
        </p:nvPicPr>
        <p:blipFill>
          <a:blip r:embed="rId2"/>
          <a:stretch>
            <a:fillRect/>
          </a:stretch>
        </p:blipFill>
        <p:spPr>
          <a:xfrm>
            <a:off x="6201461" y="669341"/>
            <a:ext cx="307238" cy="307238"/>
          </a:xfrm>
          <a:prstGeom prst="rect">
            <a:avLst/>
          </a:prstGeom>
        </p:spPr>
      </p:pic>
      <p:sp>
        <p:nvSpPr>
          <p:cNvPr id="9" name="Shape 5"/>
          <p:cNvSpPr/>
          <p:nvPr/>
        </p:nvSpPr>
        <p:spPr>
          <a:xfrm>
            <a:off x="8001000" y="502920"/>
            <a:ext cx="640080" cy="640080"/>
          </a:xfrm>
          <a:prstGeom prst="ellipse">
            <a:avLst/>
          </a:prstGeom>
          <a:solidFill>
            <a:srgbClr val="4A3480"/>
          </a:solidFill>
          <a:ln w="12700">
            <a:solidFill>
              <a:srgbClr val="4A3480"/>
            </a:solidFill>
            <a:prstDash val="solid"/>
          </a:ln>
        </p:spPr>
      </p:sp>
      <p:pic>
        <p:nvPicPr>
          <p:cNvPr id="10" name="Image 2" descr="preencoded.png">    </p:cNvPr>
          <p:cNvPicPr>
            <a:picLocks noChangeAspect="1"/>
          </p:cNvPicPr>
          <p:nvPr/>
        </p:nvPicPr>
        <p:blipFill>
          <a:blip r:embed="rId3"/>
          <a:stretch>
            <a:fillRect/>
          </a:stretch>
        </p:blipFill>
        <p:spPr>
          <a:xfrm>
            <a:off x="8167421" y="669341"/>
            <a:ext cx="307238" cy="307238"/>
          </a:xfrm>
          <a:prstGeom prst="rect">
            <a:avLst/>
          </a:prstGeom>
        </p:spPr>
      </p:pic>
      <p:sp>
        <p:nvSpPr>
          <p:cNvPr id="11" name="Shape 6"/>
          <p:cNvSpPr/>
          <p:nvPr/>
        </p:nvSpPr>
        <p:spPr>
          <a:xfrm>
            <a:off x="6035040" y="2651760"/>
            <a:ext cx="640080" cy="640080"/>
          </a:xfrm>
          <a:prstGeom prst="ellipse">
            <a:avLst/>
          </a:prstGeom>
          <a:solidFill>
            <a:srgbClr val="4A3480"/>
          </a:solidFill>
          <a:ln w="12700">
            <a:solidFill>
              <a:srgbClr val="4A3480"/>
            </a:solidFill>
            <a:prstDash val="solid"/>
          </a:ln>
        </p:spPr>
      </p:sp>
      <p:pic>
        <p:nvPicPr>
          <p:cNvPr id="12" name="Image 3" descr="preencoded.png">    </p:cNvPr>
          <p:cNvPicPr>
            <a:picLocks noChangeAspect="1"/>
          </p:cNvPicPr>
          <p:nvPr/>
        </p:nvPicPr>
        <p:blipFill>
          <a:blip r:embed="rId4"/>
          <a:stretch>
            <a:fillRect/>
          </a:stretch>
        </p:blipFill>
        <p:spPr>
          <a:xfrm>
            <a:off x="6201461" y="2818181"/>
            <a:ext cx="307238" cy="307238"/>
          </a:xfrm>
          <a:prstGeom prst="rect">
            <a:avLst/>
          </a:prstGeom>
        </p:spPr>
      </p:pic>
      <p:sp>
        <p:nvSpPr>
          <p:cNvPr id="13" name="Shape 7"/>
          <p:cNvSpPr/>
          <p:nvPr/>
        </p:nvSpPr>
        <p:spPr>
          <a:xfrm>
            <a:off x="8229600" y="2651760"/>
            <a:ext cx="548640" cy="548640"/>
          </a:xfrm>
          <a:prstGeom prst="ellipse">
            <a:avLst/>
          </a:prstGeom>
          <a:solidFill>
            <a:srgbClr val="4A3480"/>
          </a:solidFill>
          <a:ln w="12700">
            <a:solidFill>
              <a:srgbClr val="4A3480"/>
            </a:solidFill>
            <a:prstDash val="solid"/>
          </a:ln>
        </p:spPr>
      </p:sp>
      <p:pic>
        <p:nvPicPr>
          <p:cNvPr id="14" name="Image 4" descr="preencoded.png">    </p:cNvPr>
          <p:cNvPicPr>
            <a:picLocks noChangeAspect="1"/>
          </p:cNvPicPr>
          <p:nvPr/>
        </p:nvPicPr>
        <p:blipFill>
          <a:blip r:embed="rId5"/>
          <a:stretch>
            <a:fillRect/>
          </a:stretch>
        </p:blipFill>
        <p:spPr>
          <a:xfrm>
            <a:off x="8372246" y="2794406"/>
            <a:ext cx="263347" cy="263347"/>
          </a:xfrm>
          <a:prstGeom prst="rect">
            <a:avLst/>
          </a:prstGeom>
        </p:spPr>
      </p:pic>
      <p:sp>
        <p:nvSpPr>
          <p:cNvPr id="15" name="Text 8"/>
          <p:cNvSpPr txBox="1"/>
          <p:nvPr/>
        </p:nvSpPr>
        <p:spPr>
          <a:xfrm>
            <a:off x="5669280" y="3611880"/>
            <a:ext cx="3017520" cy="1188720"/>
          </a:xfrm>
          <a:prstGeom prst="rect">
            <a:avLst/>
          </a:prstGeom>
          <a:noFill/>
          <a:ln/>
        </p:spPr>
        <p:txBody>
          <a:bodyPr wrap="square" lIns="0" tIns="0" rIns="0" bIns="0" rtlCol="0" anchor="b"/>
          <a:lstStyle/>
          <a:p>
            <a:pPr algn="r" indent="0" marL="0">
              <a:spcAft>
                <a:spcPts val="200"/>
              </a:spcAft>
              <a:buNone/>
            </a:pPr>
            <a:r>
              <a:rPr lang="en-US" sz="1200" dirty="0">
                <a:solidFill>
                  <a:srgbClr val="FFFFFF"/>
                </a:solidFill>
                <a:latin typeface="Calibri" pitchFamily="34" charset="0"/>
                <a:ea typeface="Calibri" pitchFamily="34" charset="-122"/>
                <a:cs typeface="Calibri" pitchFamily="34" charset="-120"/>
              </a:rPr>
              <a:t>B.Akhila (533)</a:t>
            </a:r>
            <a:endParaRPr lang="en-US" sz="1200" dirty="0"/>
          </a:p>
          <a:p>
            <a:pPr algn="r" indent="0" marL="0">
              <a:spcAft>
                <a:spcPts val="200"/>
              </a:spcAft>
              <a:buNone/>
            </a:pPr>
            <a:r>
              <a:rPr lang="en-US" sz="1200" dirty="0">
                <a:solidFill>
                  <a:srgbClr val="FFFFFF"/>
                </a:solidFill>
                <a:latin typeface="Calibri" pitchFamily="34" charset="0"/>
                <a:ea typeface="Calibri" pitchFamily="34" charset="-122"/>
                <a:cs typeface="Calibri" pitchFamily="34" charset="-120"/>
              </a:rPr>
              <a:t>D.Bhavya Sri (565)</a:t>
            </a:r>
            <a:endParaRPr lang="en-US" sz="1200" dirty="0"/>
          </a:p>
          <a:p>
            <a:pPr algn="r" indent="0" marL="0">
              <a:spcAft>
                <a:spcPts val="200"/>
              </a:spcAft>
              <a:buNone/>
            </a:pPr>
            <a:r>
              <a:rPr lang="en-US" sz="1200" dirty="0">
                <a:solidFill>
                  <a:srgbClr val="FFFFFF"/>
                </a:solidFill>
                <a:latin typeface="Calibri" pitchFamily="34" charset="0"/>
                <a:ea typeface="Calibri" pitchFamily="34" charset="-122"/>
                <a:cs typeface="Calibri" pitchFamily="34" charset="-120"/>
              </a:rPr>
              <a:t>B.Sri Lakshmi (531)</a:t>
            </a:r>
            <a:endParaRPr lang="en-US" sz="1200" dirty="0"/>
          </a:p>
          <a:p>
            <a:pPr algn="r" indent="0" marL="0">
              <a:spcAft>
                <a:spcPts val="200"/>
              </a:spcAft>
              <a:buNone/>
            </a:pPr>
            <a:r>
              <a:rPr lang="en-US" sz="1200" dirty="0">
                <a:solidFill>
                  <a:srgbClr val="FFFFFF"/>
                </a:solidFill>
                <a:latin typeface="Calibri" pitchFamily="34" charset="0"/>
                <a:ea typeface="Calibri" pitchFamily="34" charset="-122"/>
                <a:cs typeface="Calibri" pitchFamily="34" charset="-120"/>
              </a:rPr>
              <a:t>D.Venkata Ganga Sravya (563)</a:t>
            </a:r>
            <a:endParaRPr lang="en-US" sz="1200" dirty="0"/>
          </a:p>
          <a:p>
            <a:pPr algn="r" indent="0" marL="0">
              <a:spcAft>
                <a:spcPts val="200"/>
              </a:spcAft>
              <a:buNone/>
            </a:pPr>
            <a:r>
              <a:rPr lang="en-US" sz="1200" dirty="0">
                <a:solidFill>
                  <a:srgbClr val="FFFFFF"/>
                </a:solidFill>
                <a:latin typeface="Calibri" pitchFamily="34" charset="0"/>
                <a:ea typeface="Calibri" pitchFamily="34" charset="-122"/>
                <a:cs typeface="Calibri" pitchFamily="34" charset="-120"/>
              </a:rPr>
              <a:t>B.Sunitha (541)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Problem Statement</a:t>
            </a:r>
            <a:endParaRPr lang="en-US" sz="3600" dirty="0"/>
          </a:p>
        </p:txBody>
      </p:sp>
      <p:sp>
        <p:nvSpPr>
          <p:cNvPr id="3" name="Text 1"/>
          <p:cNvSpPr txBox="1"/>
          <p:nvPr/>
        </p:nvSpPr>
        <p:spPr>
          <a:xfrm>
            <a:off x="548640" y="1188720"/>
            <a:ext cx="4206240" cy="1920240"/>
          </a:xfrm>
          <a:prstGeom prst="rect">
            <a:avLst/>
          </a:prstGeom>
          <a:noFill/>
          <a:ln/>
        </p:spPr>
        <p:txBody>
          <a:bodyPr wrap="square" lIns="0" tIns="0" rIns="0" bIns="0" rtlCol="0" anchor="t"/>
          <a:lstStyle/>
          <a:p>
            <a:pPr indent="0" marL="0">
              <a:buNone/>
            </a:pPr>
            <a:r>
              <a:rPr lang="en-US" sz="1500" dirty="0">
                <a:solidFill>
                  <a:srgbClr val="2B2B3A"/>
                </a:solidFill>
                <a:latin typeface="Calibri" pitchFamily="34" charset="0"/>
                <a:ea typeface="Calibri" pitchFamily="34" charset="-122"/>
                <a:cs typeface="Calibri" pitchFamily="34" charset="-120"/>
              </a:rPr>
              <a:t>Marketing teams spend days planning campaigns by hand, juggling many tools, and writing separate content for every channel. Plans become inconsistent, brand voice drifts, and results are hard to measure. There is a need for an AI agent that plans, breaks down, writes and evaluates campaigns end to end.</a:t>
            </a:r>
            <a:endParaRPr lang="en-US" sz="1500" dirty="0"/>
          </a:p>
        </p:txBody>
      </p:sp>
      <p:sp>
        <p:nvSpPr>
          <p:cNvPr id="4" name="Shape 2"/>
          <p:cNvSpPr/>
          <p:nvPr/>
        </p:nvSpPr>
        <p:spPr>
          <a:xfrm>
            <a:off x="548640" y="3200400"/>
            <a:ext cx="4206240" cy="1463040"/>
          </a:xfrm>
          <a:prstGeom prst="roundRect">
            <a:avLst>
              <a:gd name="adj" fmla="val 7500"/>
            </a:avLst>
          </a:prstGeom>
          <a:solidFill>
            <a:srgbClr val="2B1B4E"/>
          </a:solidFill>
          <a:ln w="12700">
            <a:solidFill>
              <a:srgbClr val="2B1B4E"/>
            </a:solidFill>
            <a:prstDash val="solid"/>
          </a:ln>
        </p:spPr>
      </p:sp>
      <p:sp>
        <p:nvSpPr>
          <p:cNvPr id="5" name="Shape 3"/>
          <p:cNvSpPr/>
          <p:nvPr/>
        </p:nvSpPr>
        <p:spPr>
          <a:xfrm>
            <a:off x="2240280" y="3520440"/>
            <a:ext cx="822960" cy="82296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2454250" y="3734410"/>
            <a:ext cx="395021" cy="395021"/>
          </a:xfrm>
          <a:prstGeom prst="rect">
            <a:avLst/>
          </a:prstGeom>
        </p:spPr>
      </p:pic>
      <p:sp>
        <p:nvSpPr>
          <p:cNvPr id="7" name="Shape 4"/>
          <p:cNvSpPr/>
          <p:nvPr/>
        </p:nvSpPr>
        <p:spPr>
          <a:xfrm>
            <a:off x="914400" y="3383280"/>
            <a:ext cx="548640" cy="548640"/>
          </a:xfrm>
          <a:prstGeom prst="ellipse">
            <a:avLst/>
          </a:prstGeom>
          <a:solidFill>
            <a:srgbClr val="4A3480"/>
          </a:solidFill>
          <a:ln w="12700">
            <a:solidFill>
              <a:srgbClr val="4A3480"/>
            </a:solidFill>
            <a:prstDash val="solid"/>
          </a:ln>
        </p:spPr>
      </p:sp>
      <p:pic>
        <p:nvPicPr>
          <p:cNvPr id="8" name="Image 1" descr="preencoded.png">    </p:cNvPr>
          <p:cNvPicPr>
            <a:picLocks noChangeAspect="1"/>
          </p:cNvPicPr>
          <p:nvPr/>
        </p:nvPicPr>
        <p:blipFill>
          <a:blip r:embed="rId2"/>
          <a:stretch>
            <a:fillRect/>
          </a:stretch>
        </p:blipFill>
        <p:spPr>
          <a:xfrm>
            <a:off x="1057046" y="3525926"/>
            <a:ext cx="263347" cy="263347"/>
          </a:xfrm>
          <a:prstGeom prst="rect">
            <a:avLst/>
          </a:prstGeom>
        </p:spPr>
      </p:pic>
      <p:sp>
        <p:nvSpPr>
          <p:cNvPr id="9" name="Shape 5"/>
          <p:cNvSpPr/>
          <p:nvPr/>
        </p:nvSpPr>
        <p:spPr>
          <a:xfrm>
            <a:off x="914400" y="4023360"/>
            <a:ext cx="457200" cy="457200"/>
          </a:xfrm>
          <a:prstGeom prst="ellipse">
            <a:avLst/>
          </a:prstGeom>
          <a:solidFill>
            <a:srgbClr val="4A3480"/>
          </a:solidFill>
          <a:ln w="12700">
            <a:solidFill>
              <a:srgbClr val="4A3480"/>
            </a:solidFill>
            <a:prstDash val="solid"/>
          </a:ln>
        </p:spPr>
      </p:sp>
      <p:pic>
        <p:nvPicPr>
          <p:cNvPr id="10" name="Image 2" descr="preencoded.png">    </p:cNvPr>
          <p:cNvPicPr>
            <a:picLocks noChangeAspect="1"/>
          </p:cNvPicPr>
          <p:nvPr/>
        </p:nvPicPr>
        <p:blipFill>
          <a:blip r:embed="rId3"/>
          <a:stretch>
            <a:fillRect/>
          </a:stretch>
        </p:blipFill>
        <p:spPr>
          <a:xfrm>
            <a:off x="1033272" y="4142232"/>
            <a:ext cx="219456" cy="219456"/>
          </a:xfrm>
          <a:prstGeom prst="rect">
            <a:avLst/>
          </a:prstGeom>
        </p:spPr>
      </p:pic>
      <p:sp>
        <p:nvSpPr>
          <p:cNvPr id="11" name="Shape 6"/>
          <p:cNvSpPr/>
          <p:nvPr/>
        </p:nvSpPr>
        <p:spPr>
          <a:xfrm>
            <a:off x="3703320" y="3383280"/>
            <a:ext cx="548640" cy="548640"/>
          </a:xfrm>
          <a:prstGeom prst="ellipse">
            <a:avLst/>
          </a:prstGeom>
          <a:solidFill>
            <a:srgbClr val="4A3480"/>
          </a:solidFill>
          <a:ln w="12700">
            <a:solidFill>
              <a:srgbClr val="4A3480"/>
            </a:solidFill>
            <a:prstDash val="solid"/>
          </a:ln>
        </p:spPr>
      </p:sp>
      <p:pic>
        <p:nvPicPr>
          <p:cNvPr id="12" name="Image 3" descr="preencoded.png">    </p:cNvPr>
          <p:cNvPicPr>
            <a:picLocks noChangeAspect="1"/>
          </p:cNvPicPr>
          <p:nvPr/>
        </p:nvPicPr>
        <p:blipFill>
          <a:blip r:embed="rId4"/>
          <a:stretch>
            <a:fillRect/>
          </a:stretch>
        </p:blipFill>
        <p:spPr>
          <a:xfrm>
            <a:off x="3845966" y="3525926"/>
            <a:ext cx="263347" cy="263347"/>
          </a:xfrm>
          <a:prstGeom prst="rect">
            <a:avLst/>
          </a:prstGeom>
        </p:spPr>
      </p:pic>
      <p:sp>
        <p:nvSpPr>
          <p:cNvPr id="13" name="Shape 7"/>
          <p:cNvSpPr/>
          <p:nvPr/>
        </p:nvSpPr>
        <p:spPr>
          <a:xfrm>
            <a:off x="3749040" y="4023360"/>
            <a:ext cx="457200" cy="457200"/>
          </a:xfrm>
          <a:prstGeom prst="ellipse">
            <a:avLst/>
          </a:prstGeom>
          <a:solidFill>
            <a:srgbClr val="4A3480"/>
          </a:solidFill>
          <a:ln w="12700">
            <a:solidFill>
              <a:srgbClr val="4A3480"/>
            </a:solidFill>
            <a:prstDash val="solid"/>
          </a:ln>
        </p:spPr>
      </p:sp>
      <p:pic>
        <p:nvPicPr>
          <p:cNvPr id="14" name="Image 4" descr="preencoded.png">    </p:cNvPr>
          <p:cNvPicPr>
            <a:picLocks noChangeAspect="1"/>
          </p:cNvPicPr>
          <p:nvPr/>
        </p:nvPicPr>
        <p:blipFill>
          <a:blip r:embed="rId5"/>
          <a:stretch>
            <a:fillRect/>
          </a:stretch>
        </p:blipFill>
        <p:spPr>
          <a:xfrm>
            <a:off x="3867912" y="4142232"/>
            <a:ext cx="219456" cy="219456"/>
          </a:xfrm>
          <a:prstGeom prst="rect">
            <a:avLst/>
          </a:prstGeom>
        </p:spPr>
      </p:pic>
      <p:sp>
        <p:nvSpPr>
          <p:cNvPr id="15" name="Shape 8"/>
          <p:cNvSpPr/>
          <p:nvPr/>
        </p:nvSpPr>
        <p:spPr>
          <a:xfrm>
            <a:off x="5120640" y="1188720"/>
            <a:ext cx="3474720" cy="1005840"/>
          </a:xfrm>
          <a:prstGeom prst="roundRect">
            <a:avLst>
              <a:gd name="adj" fmla="val 909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6" name="Shape 9"/>
          <p:cNvSpPr/>
          <p:nvPr/>
        </p:nvSpPr>
        <p:spPr>
          <a:xfrm>
            <a:off x="5257800" y="1417320"/>
            <a:ext cx="548640" cy="548640"/>
          </a:xfrm>
          <a:prstGeom prst="ellipse">
            <a:avLst/>
          </a:prstGeom>
          <a:solidFill>
            <a:srgbClr val="FF6B57"/>
          </a:solidFill>
          <a:ln w="12700">
            <a:solidFill>
              <a:srgbClr val="FF6B57"/>
            </a:solidFill>
            <a:prstDash val="solid"/>
          </a:ln>
        </p:spPr>
      </p:sp>
      <p:pic>
        <p:nvPicPr>
          <p:cNvPr id="17" name="Image 5" descr="preencoded.png">    </p:cNvPr>
          <p:cNvPicPr>
            <a:picLocks noChangeAspect="1"/>
          </p:cNvPicPr>
          <p:nvPr/>
        </p:nvPicPr>
        <p:blipFill>
          <a:blip r:embed="rId6"/>
          <a:stretch>
            <a:fillRect/>
          </a:stretch>
        </p:blipFill>
        <p:spPr>
          <a:xfrm>
            <a:off x="5400446" y="1559966"/>
            <a:ext cx="263347" cy="263347"/>
          </a:xfrm>
          <a:prstGeom prst="rect">
            <a:avLst/>
          </a:prstGeom>
        </p:spPr>
      </p:pic>
      <p:sp>
        <p:nvSpPr>
          <p:cNvPr id="18" name="Text 10"/>
          <p:cNvSpPr txBox="1"/>
          <p:nvPr/>
        </p:nvSpPr>
        <p:spPr>
          <a:xfrm>
            <a:off x="5943600" y="1298448"/>
            <a:ext cx="2560320" cy="32004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Slow manual planning</a:t>
            </a:r>
            <a:endParaRPr lang="en-US" sz="1500" dirty="0"/>
          </a:p>
        </p:txBody>
      </p:sp>
      <p:sp>
        <p:nvSpPr>
          <p:cNvPr id="19" name="Text 11"/>
          <p:cNvSpPr txBox="1"/>
          <p:nvPr/>
        </p:nvSpPr>
        <p:spPr>
          <a:xfrm>
            <a:off x="5943600" y="1627632"/>
            <a:ext cx="2560320" cy="457200"/>
          </a:xfrm>
          <a:prstGeom prst="rect">
            <a:avLst/>
          </a:prstGeom>
          <a:noFill/>
          <a:ln/>
        </p:spPr>
        <p:txBody>
          <a:bodyPr wrap="square" lIns="0" tIns="0" rIns="0" bIns="0" rtlCol="0" anchor="t"/>
          <a:lstStyle/>
          <a:p>
            <a:pPr indent="0" marL="0">
              <a:buNone/>
            </a:pPr>
            <a:r>
              <a:rPr lang="en-US" sz="1200" dirty="0">
                <a:solidFill>
                  <a:srgbClr val="6B6480"/>
                </a:solidFill>
                <a:latin typeface="Calibri" pitchFamily="34" charset="0"/>
                <a:ea typeface="Calibri" pitchFamily="34" charset="-122"/>
                <a:cs typeface="Calibri" pitchFamily="34" charset="-120"/>
              </a:rPr>
              <a:t>Briefs, calendars and task lists take days.</a:t>
            </a:r>
            <a:endParaRPr lang="en-US" sz="1200" dirty="0"/>
          </a:p>
        </p:txBody>
      </p:sp>
      <p:sp>
        <p:nvSpPr>
          <p:cNvPr id="20" name="Shape 12"/>
          <p:cNvSpPr/>
          <p:nvPr/>
        </p:nvSpPr>
        <p:spPr>
          <a:xfrm>
            <a:off x="5120640" y="2377440"/>
            <a:ext cx="3474720" cy="1005840"/>
          </a:xfrm>
          <a:prstGeom prst="roundRect">
            <a:avLst>
              <a:gd name="adj" fmla="val 909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1" name="Shape 13"/>
          <p:cNvSpPr/>
          <p:nvPr/>
        </p:nvSpPr>
        <p:spPr>
          <a:xfrm>
            <a:off x="5257800" y="2606040"/>
            <a:ext cx="548640" cy="548640"/>
          </a:xfrm>
          <a:prstGeom prst="ellipse">
            <a:avLst/>
          </a:prstGeom>
          <a:solidFill>
            <a:srgbClr val="FF6B57"/>
          </a:solidFill>
          <a:ln w="12700">
            <a:solidFill>
              <a:srgbClr val="FF6B57"/>
            </a:solidFill>
            <a:prstDash val="solid"/>
          </a:ln>
        </p:spPr>
      </p:sp>
      <p:pic>
        <p:nvPicPr>
          <p:cNvPr id="22" name="Image 6" descr="preencoded.png">    </p:cNvPr>
          <p:cNvPicPr>
            <a:picLocks noChangeAspect="1"/>
          </p:cNvPicPr>
          <p:nvPr/>
        </p:nvPicPr>
        <p:blipFill>
          <a:blip r:embed="rId7"/>
          <a:stretch>
            <a:fillRect/>
          </a:stretch>
        </p:blipFill>
        <p:spPr>
          <a:xfrm>
            <a:off x="5400446" y="2748686"/>
            <a:ext cx="263347" cy="263347"/>
          </a:xfrm>
          <a:prstGeom prst="rect">
            <a:avLst/>
          </a:prstGeom>
        </p:spPr>
      </p:pic>
      <p:sp>
        <p:nvSpPr>
          <p:cNvPr id="23" name="Text 14"/>
          <p:cNvSpPr txBox="1"/>
          <p:nvPr/>
        </p:nvSpPr>
        <p:spPr>
          <a:xfrm>
            <a:off x="5943600" y="2487168"/>
            <a:ext cx="2560320" cy="32004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Scattered, inconsistent content</a:t>
            </a:r>
            <a:endParaRPr lang="en-US" sz="1500" dirty="0"/>
          </a:p>
        </p:txBody>
      </p:sp>
      <p:sp>
        <p:nvSpPr>
          <p:cNvPr id="24" name="Text 15"/>
          <p:cNvSpPr txBox="1"/>
          <p:nvPr/>
        </p:nvSpPr>
        <p:spPr>
          <a:xfrm>
            <a:off x="5943600" y="2816352"/>
            <a:ext cx="2560320" cy="457200"/>
          </a:xfrm>
          <a:prstGeom prst="rect">
            <a:avLst/>
          </a:prstGeom>
          <a:noFill/>
          <a:ln/>
        </p:spPr>
        <p:txBody>
          <a:bodyPr wrap="square" lIns="0" tIns="0" rIns="0" bIns="0" rtlCol="0" anchor="t"/>
          <a:lstStyle/>
          <a:p>
            <a:pPr indent="0" marL="0">
              <a:buNone/>
            </a:pPr>
            <a:r>
              <a:rPr lang="en-US" sz="1200" dirty="0">
                <a:solidFill>
                  <a:srgbClr val="6B6480"/>
                </a:solidFill>
                <a:latin typeface="Calibri" pitchFamily="34" charset="0"/>
                <a:ea typeface="Calibri" pitchFamily="34" charset="-122"/>
                <a:cs typeface="Calibri" pitchFamily="34" charset="-120"/>
              </a:rPr>
              <a:t>Tone and messaging differ across channels.</a:t>
            </a:r>
            <a:endParaRPr lang="en-US" sz="1200" dirty="0"/>
          </a:p>
        </p:txBody>
      </p:sp>
      <p:sp>
        <p:nvSpPr>
          <p:cNvPr id="25" name="Shape 16"/>
          <p:cNvSpPr/>
          <p:nvPr/>
        </p:nvSpPr>
        <p:spPr>
          <a:xfrm>
            <a:off x="5120640" y="3566160"/>
            <a:ext cx="3474720" cy="1005840"/>
          </a:xfrm>
          <a:prstGeom prst="roundRect">
            <a:avLst>
              <a:gd name="adj" fmla="val 909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6" name="Shape 17"/>
          <p:cNvSpPr/>
          <p:nvPr/>
        </p:nvSpPr>
        <p:spPr>
          <a:xfrm>
            <a:off x="5257800" y="3794760"/>
            <a:ext cx="548640" cy="548640"/>
          </a:xfrm>
          <a:prstGeom prst="ellipse">
            <a:avLst/>
          </a:prstGeom>
          <a:solidFill>
            <a:srgbClr val="FF6B57"/>
          </a:solidFill>
          <a:ln w="12700">
            <a:solidFill>
              <a:srgbClr val="FF6B57"/>
            </a:solidFill>
            <a:prstDash val="solid"/>
          </a:ln>
        </p:spPr>
      </p:sp>
      <p:pic>
        <p:nvPicPr>
          <p:cNvPr id="27" name="Image 7" descr="preencoded.png">    </p:cNvPr>
          <p:cNvPicPr>
            <a:picLocks noChangeAspect="1"/>
          </p:cNvPicPr>
          <p:nvPr/>
        </p:nvPicPr>
        <p:blipFill>
          <a:blip r:embed="rId8"/>
          <a:stretch>
            <a:fillRect/>
          </a:stretch>
        </p:blipFill>
        <p:spPr>
          <a:xfrm>
            <a:off x="5400446" y="3937406"/>
            <a:ext cx="263347" cy="263347"/>
          </a:xfrm>
          <a:prstGeom prst="rect">
            <a:avLst/>
          </a:prstGeom>
        </p:spPr>
      </p:pic>
      <p:sp>
        <p:nvSpPr>
          <p:cNvPr id="28" name="Text 18"/>
          <p:cNvSpPr txBox="1"/>
          <p:nvPr/>
        </p:nvSpPr>
        <p:spPr>
          <a:xfrm>
            <a:off x="5943600" y="3675888"/>
            <a:ext cx="2560320" cy="32004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Hard-to-measure quality</a:t>
            </a:r>
            <a:endParaRPr lang="en-US" sz="1500" dirty="0"/>
          </a:p>
        </p:txBody>
      </p:sp>
      <p:sp>
        <p:nvSpPr>
          <p:cNvPr id="29" name="Text 19"/>
          <p:cNvSpPr txBox="1"/>
          <p:nvPr/>
        </p:nvSpPr>
        <p:spPr>
          <a:xfrm>
            <a:off x="5943600" y="4005072"/>
            <a:ext cx="2560320" cy="457200"/>
          </a:xfrm>
          <a:prstGeom prst="rect">
            <a:avLst/>
          </a:prstGeom>
          <a:noFill/>
          <a:ln/>
        </p:spPr>
        <p:txBody>
          <a:bodyPr wrap="square" lIns="0" tIns="0" rIns="0" bIns="0" rtlCol="0" anchor="t"/>
          <a:lstStyle/>
          <a:p>
            <a:pPr indent="0" marL="0">
              <a:buNone/>
            </a:pPr>
            <a:r>
              <a:rPr lang="en-US" sz="1200" dirty="0">
                <a:solidFill>
                  <a:srgbClr val="6B6480"/>
                </a:solidFill>
                <a:latin typeface="Calibri" pitchFamily="34" charset="0"/>
                <a:ea typeface="Calibri" pitchFamily="34" charset="-122"/>
                <a:cs typeface="Calibri" pitchFamily="34" charset="-120"/>
              </a:rPr>
              <a:t>No standard way to test or evaluate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Proposed Solution</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An AI agent that turns a simple brief into a complete, measurable campaign</a:t>
            </a:r>
            <a:endParaRPr lang="en-US" sz="1500" dirty="0"/>
          </a:p>
        </p:txBody>
      </p:sp>
      <p:sp>
        <p:nvSpPr>
          <p:cNvPr id="4" name="Shape 2"/>
          <p:cNvSpPr/>
          <p:nvPr/>
        </p:nvSpPr>
        <p:spPr>
          <a:xfrm>
            <a:off x="548640" y="15087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5" name="Shape 3"/>
          <p:cNvSpPr/>
          <p:nvPr/>
        </p:nvSpPr>
        <p:spPr>
          <a:xfrm>
            <a:off x="731520" y="1691640"/>
            <a:ext cx="548640" cy="54864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874166" y="1834286"/>
            <a:ext cx="263347" cy="263347"/>
          </a:xfrm>
          <a:prstGeom prst="rect">
            <a:avLst/>
          </a:prstGeom>
        </p:spPr>
      </p:pic>
      <p:sp>
        <p:nvSpPr>
          <p:cNvPr id="7" name="Text 4"/>
          <p:cNvSpPr txBox="1"/>
          <p:nvPr/>
        </p:nvSpPr>
        <p:spPr>
          <a:xfrm>
            <a:off x="731520" y="22860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Planning</a:t>
            </a:r>
            <a:endParaRPr lang="en-US" sz="1500" dirty="0"/>
          </a:p>
        </p:txBody>
      </p:sp>
      <p:sp>
        <p:nvSpPr>
          <p:cNvPr id="8" name="Text 5"/>
          <p:cNvSpPr txBox="1"/>
          <p:nvPr/>
        </p:nvSpPr>
        <p:spPr>
          <a:xfrm>
            <a:off x="731520" y="25603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Sets goals, audience and channels</a:t>
            </a:r>
            <a:endParaRPr lang="en-US" sz="1200" dirty="0"/>
          </a:p>
        </p:txBody>
      </p:sp>
      <p:sp>
        <p:nvSpPr>
          <p:cNvPr id="9" name="Shape 6"/>
          <p:cNvSpPr/>
          <p:nvPr/>
        </p:nvSpPr>
        <p:spPr>
          <a:xfrm>
            <a:off x="3291840" y="15087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0" name="Shape 7"/>
          <p:cNvSpPr/>
          <p:nvPr/>
        </p:nvSpPr>
        <p:spPr>
          <a:xfrm>
            <a:off x="3474720" y="1691640"/>
            <a:ext cx="548640" cy="548640"/>
          </a:xfrm>
          <a:prstGeom prst="ellipse">
            <a:avLst/>
          </a:prstGeom>
          <a:solidFill>
            <a:srgbClr val="4A3480"/>
          </a:solidFill>
          <a:ln w="12700">
            <a:solidFill>
              <a:srgbClr val="4A3480"/>
            </a:solidFill>
            <a:prstDash val="solid"/>
          </a:ln>
        </p:spPr>
      </p:sp>
      <p:pic>
        <p:nvPicPr>
          <p:cNvPr id="11" name="Image 1" descr="preencoded.png">    </p:cNvPr>
          <p:cNvPicPr>
            <a:picLocks noChangeAspect="1"/>
          </p:cNvPicPr>
          <p:nvPr/>
        </p:nvPicPr>
        <p:blipFill>
          <a:blip r:embed="rId2"/>
          <a:stretch>
            <a:fillRect/>
          </a:stretch>
        </p:blipFill>
        <p:spPr>
          <a:xfrm>
            <a:off x="3617366" y="1834286"/>
            <a:ext cx="263347" cy="263347"/>
          </a:xfrm>
          <a:prstGeom prst="rect">
            <a:avLst/>
          </a:prstGeom>
        </p:spPr>
      </p:pic>
      <p:sp>
        <p:nvSpPr>
          <p:cNvPr id="12" name="Text 8"/>
          <p:cNvSpPr txBox="1"/>
          <p:nvPr/>
        </p:nvSpPr>
        <p:spPr>
          <a:xfrm>
            <a:off x="3474720" y="22860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Task Decomposition</a:t>
            </a:r>
            <a:endParaRPr lang="en-US" sz="1500" dirty="0"/>
          </a:p>
        </p:txBody>
      </p:sp>
      <p:sp>
        <p:nvSpPr>
          <p:cNvPr id="13" name="Text 9"/>
          <p:cNvSpPr txBox="1"/>
          <p:nvPr/>
        </p:nvSpPr>
        <p:spPr>
          <a:xfrm>
            <a:off x="3474720" y="25603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Splits the plan into small tasks</a:t>
            </a:r>
            <a:endParaRPr lang="en-US" sz="1200" dirty="0"/>
          </a:p>
        </p:txBody>
      </p:sp>
      <p:sp>
        <p:nvSpPr>
          <p:cNvPr id="14" name="Shape 10"/>
          <p:cNvSpPr/>
          <p:nvPr/>
        </p:nvSpPr>
        <p:spPr>
          <a:xfrm>
            <a:off x="6035040" y="15087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5" name="Shape 11"/>
          <p:cNvSpPr/>
          <p:nvPr/>
        </p:nvSpPr>
        <p:spPr>
          <a:xfrm>
            <a:off x="6217920" y="1691640"/>
            <a:ext cx="548640" cy="548640"/>
          </a:xfrm>
          <a:prstGeom prst="ellipse">
            <a:avLst/>
          </a:prstGeom>
          <a:solidFill>
            <a:srgbClr val="FF6B57"/>
          </a:solidFill>
          <a:ln w="12700">
            <a:solidFill>
              <a:srgbClr val="FF6B57"/>
            </a:solidFill>
            <a:prstDash val="solid"/>
          </a:ln>
        </p:spPr>
      </p:sp>
      <p:pic>
        <p:nvPicPr>
          <p:cNvPr id="16" name="Image 2" descr="preencoded.png">    </p:cNvPr>
          <p:cNvPicPr>
            <a:picLocks noChangeAspect="1"/>
          </p:cNvPicPr>
          <p:nvPr/>
        </p:nvPicPr>
        <p:blipFill>
          <a:blip r:embed="rId3"/>
          <a:stretch>
            <a:fillRect/>
          </a:stretch>
        </p:blipFill>
        <p:spPr>
          <a:xfrm>
            <a:off x="6360566" y="1834286"/>
            <a:ext cx="263347" cy="263347"/>
          </a:xfrm>
          <a:prstGeom prst="rect">
            <a:avLst/>
          </a:prstGeom>
        </p:spPr>
      </p:pic>
      <p:sp>
        <p:nvSpPr>
          <p:cNvPr id="17" name="Text 12"/>
          <p:cNvSpPr txBox="1"/>
          <p:nvPr/>
        </p:nvSpPr>
        <p:spPr>
          <a:xfrm>
            <a:off x="6217920" y="22860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Sequential Workflow</a:t>
            </a:r>
            <a:endParaRPr lang="en-US" sz="1500" dirty="0"/>
          </a:p>
        </p:txBody>
      </p:sp>
      <p:sp>
        <p:nvSpPr>
          <p:cNvPr id="18" name="Text 13"/>
          <p:cNvSpPr txBox="1"/>
          <p:nvPr/>
        </p:nvSpPr>
        <p:spPr>
          <a:xfrm>
            <a:off x="6217920" y="25603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Runs tasks in a clear order</a:t>
            </a:r>
            <a:endParaRPr lang="en-US" sz="1200" dirty="0"/>
          </a:p>
        </p:txBody>
      </p:sp>
      <p:sp>
        <p:nvSpPr>
          <p:cNvPr id="19" name="Shape 14"/>
          <p:cNvSpPr/>
          <p:nvPr/>
        </p:nvSpPr>
        <p:spPr>
          <a:xfrm>
            <a:off x="548640" y="31089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0" name="Shape 15"/>
          <p:cNvSpPr/>
          <p:nvPr/>
        </p:nvSpPr>
        <p:spPr>
          <a:xfrm>
            <a:off x="731520" y="3291840"/>
            <a:ext cx="548640" cy="548640"/>
          </a:xfrm>
          <a:prstGeom prst="ellipse">
            <a:avLst/>
          </a:prstGeom>
          <a:solidFill>
            <a:srgbClr val="4A3480"/>
          </a:solidFill>
          <a:ln w="12700">
            <a:solidFill>
              <a:srgbClr val="4A3480"/>
            </a:solidFill>
            <a:prstDash val="solid"/>
          </a:ln>
        </p:spPr>
      </p:sp>
      <p:pic>
        <p:nvPicPr>
          <p:cNvPr id="21" name="Image 3" descr="preencoded.png">    </p:cNvPr>
          <p:cNvPicPr>
            <a:picLocks noChangeAspect="1"/>
          </p:cNvPicPr>
          <p:nvPr/>
        </p:nvPicPr>
        <p:blipFill>
          <a:blip r:embed="rId4"/>
          <a:stretch>
            <a:fillRect/>
          </a:stretch>
        </p:blipFill>
        <p:spPr>
          <a:xfrm>
            <a:off x="874166" y="3434486"/>
            <a:ext cx="263347" cy="263347"/>
          </a:xfrm>
          <a:prstGeom prst="rect">
            <a:avLst/>
          </a:prstGeom>
        </p:spPr>
      </p:pic>
      <p:sp>
        <p:nvSpPr>
          <p:cNvPr id="22" name="Text 16"/>
          <p:cNvSpPr txBox="1"/>
          <p:nvPr/>
        </p:nvSpPr>
        <p:spPr>
          <a:xfrm>
            <a:off x="731520" y="38862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Agent Memory</a:t>
            </a:r>
            <a:endParaRPr lang="en-US" sz="1500" dirty="0"/>
          </a:p>
        </p:txBody>
      </p:sp>
      <p:sp>
        <p:nvSpPr>
          <p:cNvPr id="23" name="Text 17"/>
          <p:cNvSpPr txBox="1"/>
          <p:nvPr/>
        </p:nvSpPr>
        <p:spPr>
          <a:xfrm>
            <a:off x="731520" y="41605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Remembers brand and past results</a:t>
            </a:r>
            <a:endParaRPr lang="en-US" sz="1200" dirty="0"/>
          </a:p>
        </p:txBody>
      </p:sp>
      <p:sp>
        <p:nvSpPr>
          <p:cNvPr id="24" name="Shape 18"/>
          <p:cNvSpPr/>
          <p:nvPr/>
        </p:nvSpPr>
        <p:spPr>
          <a:xfrm>
            <a:off x="3291840" y="31089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5" name="Shape 19"/>
          <p:cNvSpPr/>
          <p:nvPr/>
        </p:nvSpPr>
        <p:spPr>
          <a:xfrm>
            <a:off x="3474720" y="3291840"/>
            <a:ext cx="548640" cy="548640"/>
          </a:xfrm>
          <a:prstGeom prst="ellipse">
            <a:avLst/>
          </a:prstGeom>
          <a:solidFill>
            <a:srgbClr val="FF6B57"/>
          </a:solidFill>
          <a:ln w="12700">
            <a:solidFill>
              <a:srgbClr val="FF6B57"/>
            </a:solidFill>
            <a:prstDash val="solid"/>
          </a:ln>
        </p:spPr>
      </p:sp>
      <p:pic>
        <p:nvPicPr>
          <p:cNvPr id="26" name="Image 4" descr="preencoded.png">    </p:cNvPr>
          <p:cNvPicPr>
            <a:picLocks noChangeAspect="1"/>
          </p:cNvPicPr>
          <p:nvPr/>
        </p:nvPicPr>
        <p:blipFill>
          <a:blip r:embed="rId5"/>
          <a:stretch>
            <a:fillRect/>
          </a:stretch>
        </p:blipFill>
        <p:spPr>
          <a:xfrm>
            <a:off x="3617366" y="3434486"/>
            <a:ext cx="263347" cy="263347"/>
          </a:xfrm>
          <a:prstGeom prst="rect">
            <a:avLst/>
          </a:prstGeom>
        </p:spPr>
      </p:pic>
      <p:sp>
        <p:nvSpPr>
          <p:cNvPr id="27" name="Text 20"/>
          <p:cNvSpPr txBox="1"/>
          <p:nvPr/>
        </p:nvSpPr>
        <p:spPr>
          <a:xfrm>
            <a:off x="3474720" y="38862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Structured Outputs</a:t>
            </a:r>
            <a:endParaRPr lang="en-US" sz="1500" dirty="0"/>
          </a:p>
        </p:txBody>
      </p:sp>
      <p:sp>
        <p:nvSpPr>
          <p:cNvPr id="28" name="Text 21"/>
          <p:cNvSpPr txBox="1"/>
          <p:nvPr/>
        </p:nvSpPr>
        <p:spPr>
          <a:xfrm>
            <a:off x="3474720" y="41605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Returns clean, validated formats</a:t>
            </a:r>
            <a:endParaRPr lang="en-US" sz="1200" dirty="0"/>
          </a:p>
        </p:txBody>
      </p:sp>
      <p:sp>
        <p:nvSpPr>
          <p:cNvPr id="29" name="Shape 22"/>
          <p:cNvSpPr/>
          <p:nvPr/>
        </p:nvSpPr>
        <p:spPr>
          <a:xfrm>
            <a:off x="6035040" y="3108960"/>
            <a:ext cx="2560320" cy="1417320"/>
          </a:xfrm>
          <a:prstGeom prst="roundRect">
            <a:avLst>
              <a:gd name="adj" fmla="val 6452"/>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30" name="Shape 23"/>
          <p:cNvSpPr/>
          <p:nvPr/>
        </p:nvSpPr>
        <p:spPr>
          <a:xfrm>
            <a:off x="6217920" y="3291840"/>
            <a:ext cx="548640" cy="548640"/>
          </a:xfrm>
          <a:prstGeom prst="ellipse">
            <a:avLst/>
          </a:prstGeom>
          <a:solidFill>
            <a:srgbClr val="4A3480"/>
          </a:solidFill>
          <a:ln w="12700">
            <a:solidFill>
              <a:srgbClr val="4A3480"/>
            </a:solidFill>
            <a:prstDash val="solid"/>
          </a:ln>
        </p:spPr>
      </p:sp>
      <p:pic>
        <p:nvPicPr>
          <p:cNvPr id="31" name="Image 5" descr="preencoded.png">    </p:cNvPr>
          <p:cNvPicPr>
            <a:picLocks noChangeAspect="1"/>
          </p:cNvPicPr>
          <p:nvPr/>
        </p:nvPicPr>
        <p:blipFill>
          <a:blip r:embed="rId6"/>
          <a:stretch>
            <a:fillRect/>
          </a:stretch>
        </p:blipFill>
        <p:spPr>
          <a:xfrm>
            <a:off x="6360566" y="3434486"/>
            <a:ext cx="263347" cy="263347"/>
          </a:xfrm>
          <a:prstGeom prst="rect">
            <a:avLst/>
          </a:prstGeom>
        </p:spPr>
      </p:pic>
      <p:sp>
        <p:nvSpPr>
          <p:cNvPr id="32" name="Text 24"/>
          <p:cNvSpPr txBox="1"/>
          <p:nvPr/>
        </p:nvSpPr>
        <p:spPr>
          <a:xfrm>
            <a:off x="6217920" y="3886200"/>
            <a:ext cx="2194560" cy="274320"/>
          </a:xfrm>
          <a:prstGeom prst="rect">
            <a:avLst/>
          </a:prstGeom>
          <a:noFill/>
          <a:ln/>
        </p:spPr>
        <p:txBody>
          <a:bodyPr wrap="square" lIns="0" tIns="0" rIns="0" bIns="0" rtlCol="0" anchor="ctr"/>
          <a:lstStyle/>
          <a:p>
            <a:pPr indent="0" marL="0">
              <a:buNone/>
            </a:pPr>
            <a:r>
              <a:rPr lang="en-US" sz="1500" b="1" dirty="0">
                <a:solidFill>
                  <a:srgbClr val="2B1B4E"/>
                </a:solidFill>
                <a:latin typeface="Calibri" pitchFamily="34" charset="0"/>
                <a:ea typeface="Calibri" pitchFamily="34" charset="-122"/>
                <a:cs typeface="Calibri" pitchFamily="34" charset="-120"/>
              </a:rPr>
              <a:t>Evaluation &amp; Testing</a:t>
            </a:r>
            <a:endParaRPr lang="en-US" sz="1500" dirty="0"/>
          </a:p>
        </p:txBody>
      </p:sp>
      <p:sp>
        <p:nvSpPr>
          <p:cNvPr id="33" name="Text 25"/>
          <p:cNvSpPr txBox="1"/>
          <p:nvPr/>
        </p:nvSpPr>
        <p:spPr>
          <a:xfrm>
            <a:off x="6217920" y="4160520"/>
            <a:ext cx="2194560" cy="274320"/>
          </a:xfrm>
          <a:prstGeom prst="rect">
            <a:avLst/>
          </a:prstGeom>
          <a:noFill/>
          <a:ln/>
        </p:spPr>
        <p:txBody>
          <a:bodyPr wrap="square" lIns="0" tIns="0" rIns="0" bIns="0" rtlCol="0" anchor="ctr"/>
          <a:lstStyle/>
          <a:p>
            <a:pPr indent="0" marL="0">
              <a:buNone/>
            </a:pPr>
            <a:r>
              <a:rPr lang="en-US" sz="1200" dirty="0">
                <a:solidFill>
                  <a:srgbClr val="6B6480"/>
                </a:solidFill>
                <a:latin typeface="Calibri" pitchFamily="34" charset="0"/>
                <a:ea typeface="Calibri" pitchFamily="34" charset="-122"/>
                <a:cs typeface="Calibri" pitchFamily="34" charset="-120"/>
              </a:rPr>
              <a:t>Scores and improves every output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Planning</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The agent first converts a brief into a campaign strategy</a:t>
            </a:r>
            <a:endParaRPr lang="en-US" sz="1500" dirty="0"/>
          </a:p>
        </p:txBody>
      </p:sp>
      <p:sp>
        <p:nvSpPr>
          <p:cNvPr id="4" name="Shape 2"/>
          <p:cNvSpPr/>
          <p:nvPr/>
        </p:nvSpPr>
        <p:spPr>
          <a:xfrm>
            <a:off x="548640" y="1463040"/>
            <a:ext cx="594360" cy="594360"/>
          </a:xfrm>
          <a:prstGeom prst="ellipse">
            <a:avLst/>
          </a:prstGeom>
          <a:solidFill>
            <a:srgbClr val="FF6B57"/>
          </a:solidFill>
          <a:ln w="12700">
            <a:solidFill>
              <a:srgbClr val="FF6B57"/>
            </a:solidFill>
            <a:prstDash val="solid"/>
          </a:ln>
        </p:spPr>
      </p:sp>
      <p:pic>
        <p:nvPicPr>
          <p:cNvPr id="5" name="Image 0" descr="preencoded.png">    </p:cNvPr>
          <p:cNvPicPr>
            <a:picLocks noChangeAspect="1"/>
          </p:cNvPicPr>
          <p:nvPr/>
        </p:nvPicPr>
        <p:blipFill>
          <a:blip r:embed="rId1"/>
          <a:stretch>
            <a:fillRect/>
          </a:stretch>
        </p:blipFill>
        <p:spPr>
          <a:xfrm>
            <a:off x="703174" y="1617574"/>
            <a:ext cx="285293" cy="285293"/>
          </a:xfrm>
          <a:prstGeom prst="rect">
            <a:avLst/>
          </a:prstGeom>
        </p:spPr>
      </p:pic>
      <p:sp>
        <p:nvSpPr>
          <p:cNvPr id="6" name="Text 3"/>
          <p:cNvSpPr txBox="1"/>
          <p:nvPr/>
        </p:nvSpPr>
        <p:spPr>
          <a:xfrm>
            <a:off x="1325880" y="1463040"/>
            <a:ext cx="3291840" cy="320040"/>
          </a:xfrm>
          <a:prstGeom prst="rect">
            <a:avLst/>
          </a:prstGeom>
          <a:noFill/>
          <a:ln/>
        </p:spPr>
        <p:txBody>
          <a:bodyPr wrap="square" lIns="0" tIns="0" rIns="0" bIns="0" rtlCol="0" anchor="ctr"/>
          <a:lstStyle/>
          <a:p>
            <a:pPr indent="0" marL="0">
              <a:buNone/>
            </a:pPr>
            <a:r>
              <a:rPr lang="en-US" sz="1600" b="1" dirty="0">
                <a:solidFill>
                  <a:srgbClr val="2B1B4E"/>
                </a:solidFill>
                <a:latin typeface="Calibri" pitchFamily="34" charset="0"/>
                <a:ea typeface="Calibri" pitchFamily="34" charset="-122"/>
                <a:cs typeface="Calibri" pitchFamily="34" charset="-120"/>
              </a:rPr>
              <a:t>Define the goal</a:t>
            </a:r>
            <a:endParaRPr lang="en-US" sz="1600" dirty="0"/>
          </a:p>
        </p:txBody>
      </p:sp>
      <p:sp>
        <p:nvSpPr>
          <p:cNvPr id="7" name="Text 4"/>
          <p:cNvSpPr txBox="1"/>
          <p:nvPr/>
        </p:nvSpPr>
        <p:spPr>
          <a:xfrm>
            <a:off x="1325880" y="1783080"/>
            <a:ext cx="3291840" cy="27432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Awareness, leads or sales</a:t>
            </a:r>
            <a:endParaRPr lang="en-US" sz="1300" dirty="0"/>
          </a:p>
        </p:txBody>
      </p:sp>
      <p:sp>
        <p:nvSpPr>
          <p:cNvPr id="8" name="Shape 5"/>
          <p:cNvSpPr/>
          <p:nvPr/>
        </p:nvSpPr>
        <p:spPr>
          <a:xfrm>
            <a:off x="548640" y="2286000"/>
            <a:ext cx="594360" cy="594360"/>
          </a:xfrm>
          <a:prstGeom prst="ellipse">
            <a:avLst/>
          </a:prstGeom>
          <a:solidFill>
            <a:srgbClr val="4A3480"/>
          </a:solidFill>
          <a:ln w="12700">
            <a:solidFill>
              <a:srgbClr val="4A3480"/>
            </a:solidFill>
            <a:prstDash val="solid"/>
          </a:ln>
        </p:spPr>
      </p:sp>
      <p:pic>
        <p:nvPicPr>
          <p:cNvPr id="9" name="Image 1" descr="preencoded.png">    </p:cNvPr>
          <p:cNvPicPr>
            <a:picLocks noChangeAspect="1"/>
          </p:cNvPicPr>
          <p:nvPr/>
        </p:nvPicPr>
        <p:blipFill>
          <a:blip r:embed="rId2"/>
          <a:stretch>
            <a:fillRect/>
          </a:stretch>
        </p:blipFill>
        <p:spPr>
          <a:xfrm>
            <a:off x="703174" y="2440534"/>
            <a:ext cx="285293" cy="285293"/>
          </a:xfrm>
          <a:prstGeom prst="rect">
            <a:avLst/>
          </a:prstGeom>
        </p:spPr>
      </p:pic>
      <p:sp>
        <p:nvSpPr>
          <p:cNvPr id="10" name="Text 6"/>
          <p:cNvSpPr txBox="1"/>
          <p:nvPr/>
        </p:nvSpPr>
        <p:spPr>
          <a:xfrm>
            <a:off x="1325880" y="2286000"/>
            <a:ext cx="3291840" cy="320040"/>
          </a:xfrm>
          <a:prstGeom prst="rect">
            <a:avLst/>
          </a:prstGeom>
          <a:noFill/>
          <a:ln/>
        </p:spPr>
        <p:txBody>
          <a:bodyPr wrap="square" lIns="0" tIns="0" rIns="0" bIns="0" rtlCol="0" anchor="ctr"/>
          <a:lstStyle/>
          <a:p>
            <a:pPr indent="0" marL="0">
              <a:buNone/>
            </a:pPr>
            <a:r>
              <a:rPr lang="en-US" sz="1600" b="1" dirty="0">
                <a:solidFill>
                  <a:srgbClr val="2B1B4E"/>
                </a:solidFill>
                <a:latin typeface="Calibri" pitchFamily="34" charset="0"/>
                <a:ea typeface="Calibri" pitchFamily="34" charset="-122"/>
                <a:cs typeface="Calibri" pitchFamily="34" charset="-120"/>
              </a:rPr>
              <a:t>Understand the audience</a:t>
            </a:r>
            <a:endParaRPr lang="en-US" sz="1600" dirty="0"/>
          </a:p>
        </p:txBody>
      </p:sp>
      <p:sp>
        <p:nvSpPr>
          <p:cNvPr id="11" name="Text 7"/>
          <p:cNvSpPr txBox="1"/>
          <p:nvPr/>
        </p:nvSpPr>
        <p:spPr>
          <a:xfrm>
            <a:off x="1325880" y="2606040"/>
            <a:ext cx="3291840" cy="27432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Segments, interests, tone</a:t>
            </a:r>
            <a:endParaRPr lang="en-US" sz="1300" dirty="0"/>
          </a:p>
        </p:txBody>
      </p:sp>
      <p:sp>
        <p:nvSpPr>
          <p:cNvPr id="12" name="Shape 8"/>
          <p:cNvSpPr/>
          <p:nvPr/>
        </p:nvSpPr>
        <p:spPr>
          <a:xfrm>
            <a:off x="548640" y="3108960"/>
            <a:ext cx="594360" cy="594360"/>
          </a:xfrm>
          <a:prstGeom prst="ellipse">
            <a:avLst/>
          </a:prstGeom>
          <a:solidFill>
            <a:srgbClr val="FF6B57"/>
          </a:solidFill>
          <a:ln w="12700">
            <a:solidFill>
              <a:srgbClr val="FF6B57"/>
            </a:solidFill>
            <a:prstDash val="solid"/>
          </a:ln>
        </p:spPr>
      </p:sp>
      <p:pic>
        <p:nvPicPr>
          <p:cNvPr id="13" name="Image 2" descr="preencoded.png">    </p:cNvPr>
          <p:cNvPicPr>
            <a:picLocks noChangeAspect="1"/>
          </p:cNvPicPr>
          <p:nvPr/>
        </p:nvPicPr>
        <p:blipFill>
          <a:blip r:embed="rId3"/>
          <a:stretch>
            <a:fillRect/>
          </a:stretch>
        </p:blipFill>
        <p:spPr>
          <a:xfrm>
            <a:off x="703174" y="3263494"/>
            <a:ext cx="285293" cy="285293"/>
          </a:xfrm>
          <a:prstGeom prst="rect">
            <a:avLst/>
          </a:prstGeom>
        </p:spPr>
      </p:pic>
      <p:sp>
        <p:nvSpPr>
          <p:cNvPr id="14" name="Text 9"/>
          <p:cNvSpPr txBox="1"/>
          <p:nvPr/>
        </p:nvSpPr>
        <p:spPr>
          <a:xfrm>
            <a:off x="1325880" y="3108960"/>
            <a:ext cx="3291840" cy="320040"/>
          </a:xfrm>
          <a:prstGeom prst="rect">
            <a:avLst/>
          </a:prstGeom>
          <a:noFill/>
          <a:ln/>
        </p:spPr>
        <p:txBody>
          <a:bodyPr wrap="square" lIns="0" tIns="0" rIns="0" bIns="0" rtlCol="0" anchor="ctr"/>
          <a:lstStyle/>
          <a:p>
            <a:pPr indent="0" marL="0">
              <a:buNone/>
            </a:pPr>
            <a:r>
              <a:rPr lang="en-US" sz="1600" b="1" dirty="0">
                <a:solidFill>
                  <a:srgbClr val="2B1B4E"/>
                </a:solidFill>
                <a:latin typeface="Calibri" pitchFamily="34" charset="0"/>
                <a:ea typeface="Calibri" pitchFamily="34" charset="-122"/>
                <a:cs typeface="Calibri" pitchFamily="34" charset="-120"/>
              </a:rPr>
              <a:t>Choose channels</a:t>
            </a:r>
            <a:endParaRPr lang="en-US" sz="1600" dirty="0"/>
          </a:p>
        </p:txBody>
      </p:sp>
      <p:sp>
        <p:nvSpPr>
          <p:cNvPr id="15" name="Text 10"/>
          <p:cNvSpPr txBox="1"/>
          <p:nvPr/>
        </p:nvSpPr>
        <p:spPr>
          <a:xfrm>
            <a:off x="1325880" y="3429000"/>
            <a:ext cx="3291840" cy="27432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Social, email, ads, blog</a:t>
            </a:r>
            <a:endParaRPr lang="en-US" sz="1300" dirty="0"/>
          </a:p>
        </p:txBody>
      </p:sp>
      <p:sp>
        <p:nvSpPr>
          <p:cNvPr id="16" name="Shape 11"/>
          <p:cNvSpPr/>
          <p:nvPr/>
        </p:nvSpPr>
        <p:spPr>
          <a:xfrm>
            <a:off x="548640" y="3931920"/>
            <a:ext cx="594360" cy="594360"/>
          </a:xfrm>
          <a:prstGeom prst="ellipse">
            <a:avLst/>
          </a:prstGeom>
          <a:solidFill>
            <a:srgbClr val="4A3480"/>
          </a:solidFill>
          <a:ln w="12700">
            <a:solidFill>
              <a:srgbClr val="4A3480"/>
            </a:solidFill>
            <a:prstDash val="solid"/>
          </a:ln>
        </p:spPr>
      </p:sp>
      <p:pic>
        <p:nvPicPr>
          <p:cNvPr id="17" name="Image 3" descr="preencoded.png">    </p:cNvPr>
          <p:cNvPicPr>
            <a:picLocks noChangeAspect="1"/>
          </p:cNvPicPr>
          <p:nvPr/>
        </p:nvPicPr>
        <p:blipFill>
          <a:blip r:embed="rId4"/>
          <a:stretch>
            <a:fillRect/>
          </a:stretch>
        </p:blipFill>
        <p:spPr>
          <a:xfrm>
            <a:off x="703174" y="4086454"/>
            <a:ext cx="285293" cy="285293"/>
          </a:xfrm>
          <a:prstGeom prst="rect">
            <a:avLst/>
          </a:prstGeom>
        </p:spPr>
      </p:pic>
      <p:sp>
        <p:nvSpPr>
          <p:cNvPr id="18" name="Text 12"/>
          <p:cNvSpPr txBox="1"/>
          <p:nvPr/>
        </p:nvSpPr>
        <p:spPr>
          <a:xfrm>
            <a:off x="1325880" y="3931920"/>
            <a:ext cx="3291840" cy="320040"/>
          </a:xfrm>
          <a:prstGeom prst="rect">
            <a:avLst/>
          </a:prstGeom>
          <a:noFill/>
          <a:ln/>
        </p:spPr>
        <p:txBody>
          <a:bodyPr wrap="square" lIns="0" tIns="0" rIns="0" bIns="0" rtlCol="0" anchor="ctr"/>
          <a:lstStyle/>
          <a:p>
            <a:pPr indent="0" marL="0">
              <a:buNone/>
            </a:pPr>
            <a:r>
              <a:rPr lang="en-US" sz="1600" b="1" dirty="0">
                <a:solidFill>
                  <a:srgbClr val="2B1B4E"/>
                </a:solidFill>
                <a:latin typeface="Calibri" pitchFamily="34" charset="0"/>
                <a:ea typeface="Calibri" pitchFamily="34" charset="-122"/>
                <a:cs typeface="Calibri" pitchFamily="34" charset="-120"/>
              </a:rPr>
              <a:t>Set timeline &amp; budget</a:t>
            </a:r>
            <a:endParaRPr lang="en-US" sz="1600" dirty="0"/>
          </a:p>
        </p:txBody>
      </p:sp>
      <p:sp>
        <p:nvSpPr>
          <p:cNvPr id="19" name="Text 13"/>
          <p:cNvSpPr txBox="1"/>
          <p:nvPr/>
        </p:nvSpPr>
        <p:spPr>
          <a:xfrm>
            <a:off x="1325880" y="4251960"/>
            <a:ext cx="3291840" cy="27432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Phases with clear dates</a:t>
            </a:r>
            <a:endParaRPr lang="en-US" sz="1300" dirty="0"/>
          </a:p>
        </p:txBody>
      </p:sp>
      <p:sp>
        <p:nvSpPr>
          <p:cNvPr id="20" name="Shape 14"/>
          <p:cNvSpPr/>
          <p:nvPr/>
        </p:nvSpPr>
        <p:spPr>
          <a:xfrm>
            <a:off x="4937760" y="1463040"/>
            <a:ext cx="3657600" cy="3108960"/>
          </a:xfrm>
          <a:prstGeom prst="roundRect">
            <a:avLst>
              <a:gd name="adj" fmla="val 3529"/>
            </a:avLst>
          </a:prstGeom>
          <a:solidFill>
            <a:srgbClr val="2B1B4E"/>
          </a:solidFill>
          <a:ln w="12700">
            <a:solidFill>
              <a:srgbClr val="2B1B4E"/>
            </a:solidFill>
            <a:prstDash val="solid"/>
          </a:ln>
        </p:spPr>
      </p:sp>
      <p:sp>
        <p:nvSpPr>
          <p:cNvPr id="21" name="Text 15"/>
          <p:cNvSpPr txBox="1"/>
          <p:nvPr/>
        </p:nvSpPr>
        <p:spPr>
          <a:xfrm>
            <a:off x="5212080" y="1645920"/>
            <a:ext cx="3108960" cy="274320"/>
          </a:xfrm>
          <a:prstGeom prst="rect">
            <a:avLst/>
          </a:prstGeom>
          <a:noFill/>
          <a:ln/>
        </p:spPr>
        <p:txBody>
          <a:bodyPr wrap="square" lIns="0" tIns="0" rIns="0" bIns="0" rtlCol="0" anchor="ctr"/>
          <a:lstStyle/>
          <a:p>
            <a:pPr indent="0" marL="0">
              <a:buNone/>
            </a:pPr>
            <a:r>
              <a:rPr lang="en-US" sz="1200" b="1" dirty="0">
                <a:solidFill>
                  <a:srgbClr val="F7B32B"/>
                </a:solidFill>
                <a:latin typeface="Calibri" pitchFamily="34" charset="0"/>
                <a:ea typeface="Calibri" pitchFamily="34" charset="-122"/>
                <a:cs typeface="Calibri" pitchFamily="34" charset="-120"/>
              </a:rPr>
              <a:t>EXAMPLE BRIEF</a:t>
            </a:r>
            <a:endParaRPr lang="en-US" sz="1200" dirty="0"/>
          </a:p>
        </p:txBody>
      </p:sp>
      <p:sp>
        <p:nvSpPr>
          <p:cNvPr id="22" name="Text 16"/>
          <p:cNvSpPr txBox="1"/>
          <p:nvPr/>
        </p:nvSpPr>
        <p:spPr>
          <a:xfrm>
            <a:off x="5212080" y="1920240"/>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Launch an eco-friendly water bottle for Gen Z in 4 weeks</a:t>
            </a:r>
            <a:endParaRPr lang="en-US" sz="1500" dirty="0"/>
          </a:p>
        </p:txBody>
      </p:sp>
      <p:sp>
        <p:nvSpPr>
          <p:cNvPr id="23" name="Text 17"/>
          <p:cNvSpPr txBox="1"/>
          <p:nvPr/>
        </p:nvSpPr>
        <p:spPr>
          <a:xfrm>
            <a:off x="5212080" y="2788920"/>
            <a:ext cx="3108960" cy="274320"/>
          </a:xfrm>
          <a:prstGeom prst="rect">
            <a:avLst/>
          </a:prstGeom>
          <a:noFill/>
          <a:ln/>
        </p:spPr>
        <p:txBody>
          <a:bodyPr wrap="square" lIns="0" tIns="0" rIns="0" bIns="0" rtlCol="0" anchor="ctr"/>
          <a:lstStyle/>
          <a:p>
            <a:pPr indent="0" marL="0">
              <a:buNone/>
            </a:pPr>
            <a:r>
              <a:rPr lang="en-US" sz="1200" b="1" dirty="0">
                <a:solidFill>
                  <a:srgbClr val="F7B32B"/>
                </a:solidFill>
                <a:latin typeface="Calibri" pitchFamily="34" charset="0"/>
                <a:ea typeface="Calibri" pitchFamily="34" charset="-122"/>
                <a:cs typeface="Calibri" pitchFamily="34" charset="-120"/>
              </a:rPr>
              <a:t>STRATEGY OUTPUT</a:t>
            </a:r>
            <a:endParaRPr lang="en-US" sz="1200" dirty="0"/>
          </a:p>
        </p:txBody>
      </p:sp>
      <p:sp>
        <p:nvSpPr>
          <p:cNvPr id="24" name="Text 18"/>
          <p:cNvSpPr txBox="1"/>
          <p:nvPr/>
        </p:nvSpPr>
        <p:spPr>
          <a:xfrm>
            <a:off x="5212080" y="3108960"/>
            <a:ext cx="310896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Week 1: Awareness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Week 2-3: Engagement</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Week 4: Conversion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Task Decomposition</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One big goal is broken into small, assignable tasks</a:t>
            </a:r>
            <a:endParaRPr lang="en-US" sz="1500" dirty="0"/>
          </a:p>
        </p:txBody>
      </p:sp>
      <p:sp>
        <p:nvSpPr>
          <p:cNvPr id="4" name="Shape 2"/>
          <p:cNvSpPr/>
          <p:nvPr/>
        </p:nvSpPr>
        <p:spPr>
          <a:xfrm>
            <a:off x="3200400" y="1417320"/>
            <a:ext cx="2743200" cy="548640"/>
          </a:xfrm>
          <a:prstGeom prst="roundRect">
            <a:avLst>
              <a:gd name="adj" fmla="val 16667"/>
            </a:avLst>
          </a:prstGeom>
          <a:solidFill>
            <a:srgbClr val="FF6B57"/>
          </a:solidFill>
          <a:ln w="12700">
            <a:solidFill>
              <a:srgbClr val="FF6B57"/>
            </a:solidFill>
            <a:prstDash val="solid"/>
          </a:ln>
        </p:spPr>
      </p:sp>
      <p:sp>
        <p:nvSpPr>
          <p:cNvPr id="5" name="Text 3"/>
          <p:cNvSpPr txBox="1"/>
          <p:nvPr/>
        </p:nvSpPr>
        <p:spPr>
          <a:xfrm>
            <a:off x="3200400" y="1417320"/>
            <a:ext cx="27432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Campaign Goal</a:t>
            </a:r>
            <a:endParaRPr lang="en-US" sz="1600" dirty="0"/>
          </a:p>
        </p:txBody>
      </p:sp>
      <p:sp>
        <p:nvSpPr>
          <p:cNvPr id="6" name="Shape 4"/>
          <p:cNvSpPr/>
          <p:nvPr/>
        </p:nvSpPr>
        <p:spPr>
          <a:xfrm>
            <a:off x="4572000" y="1965960"/>
            <a:ext cx="0" cy="228600"/>
          </a:xfrm>
          <a:prstGeom prst="line">
            <a:avLst/>
          </a:prstGeom>
          <a:noFill/>
          <a:ln w="19050">
            <a:solidFill>
              <a:srgbClr val="6B6480"/>
            </a:solidFill>
            <a:prstDash val="solid"/>
          </a:ln>
        </p:spPr>
      </p:sp>
      <p:sp>
        <p:nvSpPr>
          <p:cNvPr id="7" name="Shape 5"/>
          <p:cNvSpPr/>
          <p:nvPr/>
        </p:nvSpPr>
        <p:spPr>
          <a:xfrm>
            <a:off x="1463040" y="2194560"/>
            <a:ext cx="6227064" cy="0"/>
          </a:xfrm>
          <a:prstGeom prst="line">
            <a:avLst/>
          </a:prstGeom>
          <a:noFill/>
          <a:ln w="19050">
            <a:solidFill>
              <a:srgbClr val="6B6480"/>
            </a:solidFill>
            <a:prstDash val="solid"/>
          </a:ln>
        </p:spPr>
      </p:sp>
      <p:sp>
        <p:nvSpPr>
          <p:cNvPr id="8" name="Shape 6"/>
          <p:cNvSpPr/>
          <p:nvPr/>
        </p:nvSpPr>
        <p:spPr>
          <a:xfrm>
            <a:off x="1463040" y="2194560"/>
            <a:ext cx="0" cy="228600"/>
          </a:xfrm>
          <a:prstGeom prst="line">
            <a:avLst/>
          </a:prstGeom>
          <a:noFill/>
          <a:ln w="19050">
            <a:solidFill>
              <a:srgbClr val="6B6480"/>
            </a:solidFill>
            <a:prstDash val="solid"/>
          </a:ln>
        </p:spPr>
      </p:sp>
      <p:sp>
        <p:nvSpPr>
          <p:cNvPr id="9" name="Shape 7"/>
          <p:cNvSpPr/>
          <p:nvPr/>
        </p:nvSpPr>
        <p:spPr>
          <a:xfrm>
            <a:off x="548640" y="2423160"/>
            <a:ext cx="1828800" cy="502920"/>
          </a:xfrm>
          <a:prstGeom prst="roundRect">
            <a:avLst>
              <a:gd name="adj" fmla="val 18182"/>
            </a:avLst>
          </a:prstGeom>
          <a:solidFill>
            <a:srgbClr val="4A3480"/>
          </a:solidFill>
          <a:ln w="12700">
            <a:solidFill>
              <a:srgbClr val="4A3480"/>
            </a:solidFill>
            <a:prstDash val="solid"/>
          </a:ln>
        </p:spPr>
      </p:sp>
      <p:sp>
        <p:nvSpPr>
          <p:cNvPr id="10" name="Text 8"/>
          <p:cNvSpPr txBox="1"/>
          <p:nvPr/>
        </p:nvSpPr>
        <p:spPr>
          <a:xfrm>
            <a:off x="548640" y="2423160"/>
            <a:ext cx="18288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Research</a:t>
            </a:r>
            <a:endParaRPr lang="en-US" sz="1500" dirty="0"/>
          </a:p>
        </p:txBody>
      </p:sp>
      <p:sp>
        <p:nvSpPr>
          <p:cNvPr id="11" name="Shape 9"/>
          <p:cNvSpPr/>
          <p:nvPr/>
        </p:nvSpPr>
        <p:spPr>
          <a:xfrm>
            <a:off x="548640" y="3108960"/>
            <a:ext cx="1828800" cy="1463040"/>
          </a:xfrm>
          <a:prstGeom prst="roundRect">
            <a:avLst>
              <a:gd name="adj" fmla="val 6250"/>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685800" y="3200400"/>
            <a:ext cx="1600200" cy="12801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Audience insights</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Competitor scan</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Keyword ideas</a:t>
            </a:r>
            <a:endParaRPr lang="en-US" sz="1300" dirty="0"/>
          </a:p>
        </p:txBody>
      </p:sp>
      <p:sp>
        <p:nvSpPr>
          <p:cNvPr id="13" name="Shape 11"/>
          <p:cNvSpPr/>
          <p:nvPr/>
        </p:nvSpPr>
        <p:spPr>
          <a:xfrm>
            <a:off x="3538728" y="2194560"/>
            <a:ext cx="0" cy="228600"/>
          </a:xfrm>
          <a:prstGeom prst="line">
            <a:avLst/>
          </a:prstGeom>
          <a:noFill/>
          <a:ln w="19050">
            <a:solidFill>
              <a:srgbClr val="6B6480"/>
            </a:solidFill>
            <a:prstDash val="solid"/>
          </a:ln>
        </p:spPr>
      </p:sp>
      <p:sp>
        <p:nvSpPr>
          <p:cNvPr id="14" name="Shape 12"/>
          <p:cNvSpPr/>
          <p:nvPr/>
        </p:nvSpPr>
        <p:spPr>
          <a:xfrm>
            <a:off x="2624328" y="2423160"/>
            <a:ext cx="1828800" cy="502920"/>
          </a:xfrm>
          <a:prstGeom prst="roundRect">
            <a:avLst>
              <a:gd name="adj" fmla="val 18182"/>
            </a:avLst>
          </a:prstGeom>
          <a:solidFill>
            <a:srgbClr val="4A3480"/>
          </a:solidFill>
          <a:ln w="12700">
            <a:solidFill>
              <a:srgbClr val="4A3480"/>
            </a:solidFill>
            <a:prstDash val="solid"/>
          </a:ln>
        </p:spPr>
      </p:sp>
      <p:sp>
        <p:nvSpPr>
          <p:cNvPr id="15" name="Text 13"/>
          <p:cNvSpPr txBox="1"/>
          <p:nvPr/>
        </p:nvSpPr>
        <p:spPr>
          <a:xfrm>
            <a:off x="2624328" y="2423160"/>
            <a:ext cx="18288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Content</a:t>
            </a:r>
            <a:endParaRPr lang="en-US" sz="1500" dirty="0"/>
          </a:p>
        </p:txBody>
      </p:sp>
      <p:sp>
        <p:nvSpPr>
          <p:cNvPr id="16" name="Shape 14"/>
          <p:cNvSpPr/>
          <p:nvPr/>
        </p:nvSpPr>
        <p:spPr>
          <a:xfrm>
            <a:off x="2624328" y="3108960"/>
            <a:ext cx="1828800" cy="1463040"/>
          </a:xfrm>
          <a:prstGeom prst="roundRect">
            <a:avLst>
              <a:gd name="adj" fmla="val 6250"/>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7" name="Text 15"/>
          <p:cNvSpPr txBox="1"/>
          <p:nvPr/>
        </p:nvSpPr>
        <p:spPr>
          <a:xfrm>
            <a:off x="2761488" y="3200400"/>
            <a:ext cx="1600200" cy="12801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Post captions</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Email copy</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Ad headlines</a:t>
            </a:r>
            <a:endParaRPr lang="en-US" sz="1300" dirty="0"/>
          </a:p>
        </p:txBody>
      </p:sp>
      <p:sp>
        <p:nvSpPr>
          <p:cNvPr id="18" name="Shape 16"/>
          <p:cNvSpPr/>
          <p:nvPr/>
        </p:nvSpPr>
        <p:spPr>
          <a:xfrm>
            <a:off x="5614416" y="2194560"/>
            <a:ext cx="0" cy="228600"/>
          </a:xfrm>
          <a:prstGeom prst="line">
            <a:avLst/>
          </a:prstGeom>
          <a:noFill/>
          <a:ln w="19050">
            <a:solidFill>
              <a:srgbClr val="6B6480"/>
            </a:solidFill>
            <a:prstDash val="solid"/>
          </a:ln>
        </p:spPr>
      </p:sp>
      <p:sp>
        <p:nvSpPr>
          <p:cNvPr id="19" name="Shape 17"/>
          <p:cNvSpPr/>
          <p:nvPr/>
        </p:nvSpPr>
        <p:spPr>
          <a:xfrm>
            <a:off x="4700016" y="2423160"/>
            <a:ext cx="1828800" cy="502920"/>
          </a:xfrm>
          <a:prstGeom prst="roundRect">
            <a:avLst>
              <a:gd name="adj" fmla="val 18182"/>
            </a:avLst>
          </a:prstGeom>
          <a:solidFill>
            <a:srgbClr val="4A3480"/>
          </a:solidFill>
          <a:ln w="12700">
            <a:solidFill>
              <a:srgbClr val="4A3480"/>
            </a:solidFill>
            <a:prstDash val="solid"/>
          </a:ln>
        </p:spPr>
      </p:sp>
      <p:sp>
        <p:nvSpPr>
          <p:cNvPr id="20" name="Text 18"/>
          <p:cNvSpPr txBox="1"/>
          <p:nvPr/>
        </p:nvSpPr>
        <p:spPr>
          <a:xfrm>
            <a:off x="4700016" y="2423160"/>
            <a:ext cx="18288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Scheduling</a:t>
            </a:r>
            <a:endParaRPr lang="en-US" sz="1500" dirty="0"/>
          </a:p>
        </p:txBody>
      </p:sp>
      <p:sp>
        <p:nvSpPr>
          <p:cNvPr id="21" name="Shape 19"/>
          <p:cNvSpPr/>
          <p:nvPr/>
        </p:nvSpPr>
        <p:spPr>
          <a:xfrm>
            <a:off x="4700016" y="3108960"/>
            <a:ext cx="1828800" cy="1463040"/>
          </a:xfrm>
          <a:prstGeom prst="roundRect">
            <a:avLst>
              <a:gd name="adj" fmla="val 6250"/>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2" name="Text 20"/>
          <p:cNvSpPr txBox="1"/>
          <p:nvPr/>
        </p:nvSpPr>
        <p:spPr>
          <a:xfrm>
            <a:off x="4837176" y="3200400"/>
            <a:ext cx="1600200" cy="12801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Channel calendar</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Posting times</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Budget split</a:t>
            </a:r>
            <a:endParaRPr lang="en-US" sz="1300" dirty="0"/>
          </a:p>
        </p:txBody>
      </p:sp>
      <p:sp>
        <p:nvSpPr>
          <p:cNvPr id="23" name="Shape 21"/>
          <p:cNvSpPr/>
          <p:nvPr/>
        </p:nvSpPr>
        <p:spPr>
          <a:xfrm>
            <a:off x="7690104" y="2194560"/>
            <a:ext cx="0" cy="228600"/>
          </a:xfrm>
          <a:prstGeom prst="line">
            <a:avLst/>
          </a:prstGeom>
          <a:noFill/>
          <a:ln w="19050">
            <a:solidFill>
              <a:srgbClr val="6B6480"/>
            </a:solidFill>
            <a:prstDash val="solid"/>
          </a:ln>
        </p:spPr>
      </p:sp>
      <p:sp>
        <p:nvSpPr>
          <p:cNvPr id="24" name="Shape 22"/>
          <p:cNvSpPr/>
          <p:nvPr/>
        </p:nvSpPr>
        <p:spPr>
          <a:xfrm>
            <a:off x="6775704" y="2423160"/>
            <a:ext cx="1828800" cy="502920"/>
          </a:xfrm>
          <a:prstGeom prst="roundRect">
            <a:avLst>
              <a:gd name="adj" fmla="val 18182"/>
            </a:avLst>
          </a:prstGeom>
          <a:solidFill>
            <a:srgbClr val="4A3480"/>
          </a:solidFill>
          <a:ln w="12700">
            <a:solidFill>
              <a:srgbClr val="4A3480"/>
            </a:solidFill>
            <a:prstDash val="solid"/>
          </a:ln>
        </p:spPr>
      </p:sp>
      <p:sp>
        <p:nvSpPr>
          <p:cNvPr id="25" name="Text 23"/>
          <p:cNvSpPr txBox="1"/>
          <p:nvPr/>
        </p:nvSpPr>
        <p:spPr>
          <a:xfrm>
            <a:off x="6775704" y="2423160"/>
            <a:ext cx="18288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Analytics</a:t>
            </a:r>
            <a:endParaRPr lang="en-US" sz="1500" dirty="0"/>
          </a:p>
        </p:txBody>
      </p:sp>
      <p:sp>
        <p:nvSpPr>
          <p:cNvPr id="26" name="Shape 24"/>
          <p:cNvSpPr/>
          <p:nvPr/>
        </p:nvSpPr>
        <p:spPr>
          <a:xfrm>
            <a:off x="6775704" y="3108960"/>
            <a:ext cx="1828800" cy="1463040"/>
          </a:xfrm>
          <a:prstGeom prst="roundRect">
            <a:avLst>
              <a:gd name="adj" fmla="val 6250"/>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27" name="Text 25"/>
          <p:cNvSpPr txBox="1"/>
          <p:nvPr/>
        </p:nvSpPr>
        <p:spPr>
          <a:xfrm>
            <a:off x="6912864" y="3200400"/>
            <a:ext cx="1600200" cy="12801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Track KPIs</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Compare results</a:t>
            </a:r>
            <a:endParaRPr lang="en-US" sz="1300" dirty="0"/>
          </a:p>
          <a:p>
            <a:pPr marL="342900" indent="-342900">
              <a:spcAft>
                <a:spcPts val="600"/>
              </a:spcAft>
              <a:buSzPct val="100000"/>
              <a:buChar char="•"/>
            </a:pPr>
            <a:r>
              <a:rPr lang="en-US" sz="1300" dirty="0">
                <a:solidFill>
                  <a:srgbClr val="2B2B3A"/>
                </a:solidFill>
                <a:latin typeface="Calibri" pitchFamily="34" charset="0"/>
                <a:ea typeface="Calibri" pitchFamily="34" charset="-122"/>
                <a:cs typeface="Calibri" pitchFamily="34" charset="-120"/>
              </a:rPr>
              <a:t>Suggest changes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Sequential Workflow</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Each step passes its result to the next step</a:t>
            </a:r>
            <a:endParaRPr lang="en-US" sz="1500" dirty="0"/>
          </a:p>
        </p:txBody>
      </p:sp>
      <p:sp>
        <p:nvSpPr>
          <p:cNvPr id="4" name="Shape 2"/>
          <p:cNvSpPr/>
          <p:nvPr/>
        </p:nvSpPr>
        <p:spPr>
          <a:xfrm>
            <a:off x="1645920" y="1874520"/>
            <a:ext cx="777240" cy="0"/>
          </a:xfrm>
          <a:prstGeom prst="line">
            <a:avLst/>
          </a:prstGeom>
          <a:noFill/>
          <a:ln w="25400">
            <a:solidFill>
              <a:srgbClr val="6B6480"/>
            </a:solidFill>
            <a:prstDash val="solid"/>
            <a:tailEnd type="triangle"/>
          </a:ln>
        </p:spPr>
      </p:sp>
      <p:sp>
        <p:nvSpPr>
          <p:cNvPr id="5" name="Shape 3"/>
          <p:cNvSpPr/>
          <p:nvPr/>
        </p:nvSpPr>
        <p:spPr>
          <a:xfrm>
            <a:off x="777240" y="1463040"/>
            <a:ext cx="822960" cy="82296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991210" y="1677010"/>
            <a:ext cx="395021" cy="395021"/>
          </a:xfrm>
          <a:prstGeom prst="rect">
            <a:avLst/>
          </a:prstGeom>
        </p:spPr>
      </p:pic>
      <p:sp>
        <p:nvSpPr>
          <p:cNvPr id="7" name="Text 4"/>
          <p:cNvSpPr txBox="1"/>
          <p:nvPr/>
        </p:nvSpPr>
        <p:spPr>
          <a:xfrm>
            <a:off x="411480" y="2423160"/>
            <a:ext cx="1554480" cy="320040"/>
          </a:xfrm>
          <a:prstGeom prst="rect">
            <a:avLst/>
          </a:prstGeom>
          <a:noFill/>
          <a:ln/>
        </p:spPr>
        <p:txBody>
          <a:bodyPr wrap="square" lIns="0" tIns="0" rIns="0" bIns="0" rtlCol="0" anchor="ctr"/>
          <a:lstStyle/>
          <a:p>
            <a:pPr algn="ctr" indent="0" marL="0">
              <a:buNone/>
            </a:pPr>
            <a:r>
              <a:rPr lang="en-US" sz="1600" b="1" dirty="0">
                <a:solidFill>
                  <a:srgbClr val="2B1B4E"/>
                </a:solidFill>
                <a:latin typeface="Calibri" pitchFamily="34" charset="0"/>
                <a:ea typeface="Calibri" pitchFamily="34" charset="-122"/>
                <a:cs typeface="Calibri" pitchFamily="34" charset="-120"/>
              </a:rPr>
              <a:t>1. Brief</a:t>
            </a:r>
            <a:endParaRPr lang="en-US" sz="1600" dirty="0"/>
          </a:p>
        </p:txBody>
      </p:sp>
      <p:sp>
        <p:nvSpPr>
          <p:cNvPr id="8" name="Text 5"/>
          <p:cNvSpPr txBox="1"/>
          <p:nvPr/>
        </p:nvSpPr>
        <p:spPr>
          <a:xfrm>
            <a:off x="411480" y="2743200"/>
            <a:ext cx="1554480" cy="548640"/>
          </a:xfrm>
          <a:prstGeom prst="rect">
            <a:avLst/>
          </a:prstGeom>
          <a:noFill/>
          <a:ln/>
        </p:spPr>
        <p:txBody>
          <a:bodyPr wrap="square" lIns="0" tIns="0" rIns="0" bIns="0" rtlCol="0" anchor="t"/>
          <a:lstStyle/>
          <a:p>
            <a:pPr algn="ctr" indent="0" marL="0">
              <a:buNone/>
            </a:pPr>
            <a:r>
              <a:rPr lang="en-US" sz="1300" dirty="0">
                <a:solidFill>
                  <a:srgbClr val="6B6480"/>
                </a:solidFill>
                <a:latin typeface="Calibri" pitchFamily="34" charset="0"/>
                <a:ea typeface="Calibri" pitchFamily="34" charset="-122"/>
                <a:cs typeface="Calibri" pitchFamily="34" charset="-120"/>
              </a:rPr>
              <a:t>Receive campaign idea</a:t>
            </a:r>
            <a:endParaRPr lang="en-US" sz="1300" dirty="0"/>
          </a:p>
        </p:txBody>
      </p:sp>
      <p:sp>
        <p:nvSpPr>
          <p:cNvPr id="9" name="Shape 6"/>
          <p:cNvSpPr/>
          <p:nvPr/>
        </p:nvSpPr>
        <p:spPr>
          <a:xfrm>
            <a:off x="3337560" y="1874520"/>
            <a:ext cx="777240" cy="0"/>
          </a:xfrm>
          <a:prstGeom prst="line">
            <a:avLst/>
          </a:prstGeom>
          <a:noFill/>
          <a:ln w="25400">
            <a:solidFill>
              <a:srgbClr val="6B6480"/>
            </a:solidFill>
            <a:prstDash val="solid"/>
            <a:tailEnd type="triangle"/>
          </a:ln>
        </p:spPr>
      </p:sp>
      <p:sp>
        <p:nvSpPr>
          <p:cNvPr id="10" name="Shape 7"/>
          <p:cNvSpPr/>
          <p:nvPr/>
        </p:nvSpPr>
        <p:spPr>
          <a:xfrm>
            <a:off x="2468880" y="1463040"/>
            <a:ext cx="822960" cy="822960"/>
          </a:xfrm>
          <a:prstGeom prst="ellipse">
            <a:avLst/>
          </a:prstGeom>
          <a:solidFill>
            <a:srgbClr val="4A3480"/>
          </a:solidFill>
          <a:ln w="12700">
            <a:solidFill>
              <a:srgbClr val="4A3480"/>
            </a:solidFill>
            <a:prstDash val="solid"/>
          </a:ln>
        </p:spPr>
      </p:sp>
      <p:pic>
        <p:nvPicPr>
          <p:cNvPr id="11" name="Image 1" descr="preencoded.png">    </p:cNvPr>
          <p:cNvPicPr>
            <a:picLocks noChangeAspect="1"/>
          </p:cNvPicPr>
          <p:nvPr/>
        </p:nvPicPr>
        <p:blipFill>
          <a:blip r:embed="rId2"/>
          <a:stretch>
            <a:fillRect/>
          </a:stretch>
        </p:blipFill>
        <p:spPr>
          <a:xfrm>
            <a:off x="2682850" y="1677010"/>
            <a:ext cx="395021" cy="395021"/>
          </a:xfrm>
          <a:prstGeom prst="rect">
            <a:avLst/>
          </a:prstGeom>
        </p:spPr>
      </p:pic>
      <p:sp>
        <p:nvSpPr>
          <p:cNvPr id="12" name="Text 8"/>
          <p:cNvSpPr txBox="1"/>
          <p:nvPr/>
        </p:nvSpPr>
        <p:spPr>
          <a:xfrm>
            <a:off x="2103120" y="2423160"/>
            <a:ext cx="1554480" cy="320040"/>
          </a:xfrm>
          <a:prstGeom prst="rect">
            <a:avLst/>
          </a:prstGeom>
          <a:noFill/>
          <a:ln/>
        </p:spPr>
        <p:txBody>
          <a:bodyPr wrap="square" lIns="0" tIns="0" rIns="0" bIns="0" rtlCol="0" anchor="ctr"/>
          <a:lstStyle/>
          <a:p>
            <a:pPr algn="ctr" indent="0" marL="0">
              <a:buNone/>
            </a:pPr>
            <a:r>
              <a:rPr lang="en-US" sz="1600" b="1" dirty="0">
                <a:solidFill>
                  <a:srgbClr val="2B1B4E"/>
                </a:solidFill>
                <a:latin typeface="Calibri" pitchFamily="34" charset="0"/>
                <a:ea typeface="Calibri" pitchFamily="34" charset="-122"/>
                <a:cs typeface="Calibri" pitchFamily="34" charset="-120"/>
              </a:rPr>
              <a:t>2. Plan</a:t>
            </a:r>
            <a:endParaRPr lang="en-US" sz="1600" dirty="0"/>
          </a:p>
        </p:txBody>
      </p:sp>
      <p:sp>
        <p:nvSpPr>
          <p:cNvPr id="13" name="Text 9"/>
          <p:cNvSpPr txBox="1"/>
          <p:nvPr/>
        </p:nvSpPr>
        <p:spPr>
          <a:xfrm>
            <a:off x="2103120" y="2743200"/>
            <a:ext cx="1554480" cy="548640"/>
          </a:xfrm>
          <a:prstGeom prst="rect">
            <a:avLst/>
          </a:prstGeom>
          <a:noFill/>
          <a:ln/>
        </p:spPr>
        <p:txBody>
          <a:bodyPr wrap="square" lIns="0" tIns="0" rIns="0" bIns="0" rtlCol="0" anchor="t"/>
          <a:lstStyle/>
          <a:p>
            <a:pPr algn="ctr" indent="0" marL="0">
              <a:buNone/>
            </a:pPr>
            <a:r>
              <a:rPr lang="en-US" sz="1300" dirty="0">
                <a:solidFill>
                  <a:srgbClr val="6B6480"/>
                </a:solidFill>
                <a:latin typeface="Calibri" pitchFamily="34" charset="0"/>
                <a:ea typeface="Calibri" pitchFamily="34" charset="-122"/>
                <a:cs typeface="Calibri" pitchFamily="34" charset="-120"/>
              </a:rPr>
              <a:t>Create the strategy</a:t>
            </a:r>
            <a:endParaRPr lang="en-US" sz="1300" dirty="0"/>
          </a:p>
        </p:txBody>
      </p:sp>
      <p:sp>
        <p:nvSpPr>
          <p:cNvPr id="14" name="Shape 10"/>
          <p:cNvSpPr/>
          <p:nvPr/>
        </p:nvSpPr>
        <p:spPr>
          <a:xfrm>
            <a:off x="5029200" y="1874520"/>
            <a:ext cx="777240" cy="0"/>
          </a:xfrm>
          <a:prstGeom prst="line">
            <a:avLst/>
          </a:prstGeom>
          <a:noFill/>
          <a:ln w="25400">
            <a:solidFill>
              <a:srgbClr val="6B6480"/>
            </a:solidFill>
            <a:prstDash val="solid"/>
            <a:tailEnd type="triangle"/>
          </a:ln>
        </p:spPr>
      </p:sp>
      <p:sp>
        <p:nvSpPr>
          <p:cNvPr id="15" name="Shape 11"/>
          <p:cNvSpPr/>
          <p:nvPr/>
        </p:nvSpPr>
        <p:spPr>
          <a:xfrm>
            <a:off x="4160520" y="1463040"/>
            <a:ext cx="822960" cy="822960"/>
          </a:xfrm>
          <a:prstGeom prst="ellipse">
            <a:avLst/>
          </a:prstGeom>
          <a:solidFill>
            <a:srgbClr val="FF6B57"/>
          </a:solidFill>
          <a:ln w="12700">
            <a:solidFill>
              <a:srgbClr val="FF6B57"/>
            </a:solidFill>
            <a:prstDash val="solid"/>
          </a:ln>
        </p:spPr>
      </p:sp>
      <p:pic>
        <p:nvPicPr>
          <p:cNvPr id="16" name="Image 2" descr="preencoded.png">    </p:cNvPr>
          <p:cNvPicPr>
            <a:picLocks noChangeAspect="1"/>
          </p:cNvPicPr>
          <p:nvPr/>
        </p:nvPicPr>
        <p:blipFill>
          <a:blip r:embed="rId3"/>
          <a:stretch>
            <a:fillRect/>
          </a:stretch>
        </p:blipFill>
        <p:spPr>
          <a:xfrm>
            <a:off x="4374490" y="1677010"/>
            <a:ext cx="395021" cy="395021"/>
          </a:xfrm>
          <a:prstGeom prst="rect">
            <a:avLst/>
          </a:prstGeom>
        </p:spPr>
      </p:pic>
      <p:sp>
        <p:nvSpPr>
          <p:cNvPr id="17" name="Text 12"/>
          <p:cNvSpPr txBox="1"/>
          <p:nvPr/>
        </p:nvSpPr>
        <p:spPr>
          <a:xfrm>
            <a:off x="3794760" y="2423160"/>
            <a:ext cx="1554480" cy="320040"/>
          </a:xfrm>
          <a:prstGeom prst="rect">
            <a:avLst/>
          </a:prstGeom>
          <a:noFill/>
          <a:ln/>
        </p:spPr>
        <p:txBody>
          <a:bodyPr wrap="square" lIns="0" tIns="0" rIns="0" bIns="0" rtlCol="0" anchor="ctr"/>
          <a:lstStyle/>
          <a:p>
            <a:pPr algn="ctr" indent="0" marL="0">
              <a:buNone/>
            </a:pPr>
            <a:r>
              <a:rPr lang="en-US" sz="1600" b="1" dirty="0">
                <a:solidFill>
                  <a:srgbClr val="2B1B4E"/>
                </a:solidFill>
                <a:latin typeface="Calibri" pitchFamily="34" charset="0"/>
                <a:ea typeface="Calibri" pitchFamily="34" charset="-122"/>
                <a:cs typeface="Calibri" pitchFamily="34" charset="-120"/>
              </a:rPr>
              <a:t>3. Decompose</a:t>
            </a:r>
            <a:endParaRPr lang="en-US" sz="1600" dirty="0"/>
          </a:p>
        </p:txBody>
      </p:sp>
      <p:sp>
        <p:nvSpPr>
          <p:cNvPr id="18" name="Text 13"/>
          <p:cNvSpPr txBox="1"/>
          <p:nvPr/>
        </p:nvSpPr>
        <p:spPr>
          <a:xfrm>
            <a:off x="3794760" y="2743200"/>
            <a:ext cx="1554480" cy="548640"/>
          </a:xfrm>
          <a:prstGeom prst="rect">
            <a:avLst/>
          </a:prstGeom>
          <a:noFill/>
          <a:ln/>
        </p:spPr>
        <p:txBody>
          <a:bodyPr wrap="square" lIns="0" tIns="0" rIns="0" bIns="0" rtlCol="0" anchor="t"/>
          <a:lstStyle/>
          <a:p>
            <a:pPr algn="ctr" indent="0" marL="0">
              <a:buNone/>
            </a:pPr>
            <a:r>
              <a:rPr lang="en-US" sz="1300" dirty="0">
                <a:solidFill>
                  <a:srgbClr val="6B6480"/>
                </a:solidFill>
                <a:latin typeface="Calibri" pitchFamily="34" charset="0"/>
                <a:ea typeface="Calibri" pitchFamily="34" charset="-122"/>
                <a:cs typeface="Calibri" pitchFamily="34" charset="-120"/>
              </a:rPr>
              <a:t>Split into tasks</a:t>
            </a:r>
            <a:endParaRPr lang="en-US" sz="1300" dirty="0"/>
          </a:p>
        </p:txBody>
      </p:sp>
      <p:sp>
        <p:nvSpPr>
          <p:cNvPr id="19" name="Shape 14"/>
          <p:cNvSpPr/>
          <p:nvPr/>
        </p:nvSpPr>
        <p:spPr>
          <a:xfrm>
            <a:off x="6720840" y="1874520"/>
            <a:ext cx="777240" cy="0"/>
          </a:xfrm>
          <a:prstGeom prst="line">
            <a:avLst/>
          </a:prstGeom>
          <a:noFill/>
          <a:ln w="25400">
            <a:solidFill>
              <a:srgbClr val="6B6480"/>
            </a:solidFill>
            <a:prstDash val="solid"/>
            <a:tailEnd type="triangle"/>
          </a:ln>
        </p:spPr>
      </p:sp>
      <p:sp>
        <p:nvSpPr>
          <p:cNvPr id="20" name="Shape 15"/>
          <p:cNvSpPr/>
          <p:nvPr/>
        </p:nvSpPr>
        <p:spPr>
          <a:xfrm>
            <a:off x="5852160" y="1463040"/>
            <a:ext cx="822960" cy="822960"/>
          </a:xfrm>
          <a:prstGeom prst="ellipse">
            <a:avLst/>
          </a:prstGeom>
          <a:solidFill>
            <a:srgbClr val="4A3480"/>
          </a:solidFill>
          <a:ln w="12700">
            <a:solidFill>
              <a:srgbClr val="4A3480"/>
            </a:solidFill>
            <a:prstDash val="solid"/>
          </a:ln>
        </p:spPr>
      </p:sp>
      <p:pic>
        <p:nvPicPr>
          <p:cNvPr id="21" name="Image 3" descr="preencoded.png">    </p:cNvPr>
          <p:cNvPicPr>
            <a:picLocks noChangeAspect="1"/>
          </p:cNvPicPr>
          <p:nvPr/>
        </p:nvPicPr>
        <p:blipFill>
          <a:blip r:embed="rId4"/>
          <a:stretch>
            <a:fillRect/>
          </a:stretch>
        </p:blipFill>
        <p:spPr>
          <a:xfrm>
            <a:off x="6066130" y="1677010"/>
            <a:ext cx="395021" cy="395021"/>
          </a:xfrm>
          <a:prstGeom prst="rect">
            <a:avLst/>
          </a:prstGeom>
        </p:spPr>
      </p:pic>
      <p:sp>
        <p:nvSpPr>
          <p:cNvPr id="22" name="Text 16"/>
          <p:cNvSpPr txBox="1"/>
          <p:nvPr/>
        </p:nvSpPr>
        <p:spPr>
          <a:xfrm>
            <a:off x="5486400" y="2423160"/>
            <a:ext cx="1554480" cy="320040"/>
          </a:xfrm>
          <a:prstGeom prst="rect">
            <a:avLst/>
          </a:prstGeom>
          <a:noFill/>
          <a:ln/>
        </p:spPr>
        <p:txBody>
          <a:bodyPr wrap="square" lIns="0" tIns="0" rIns="0" bIns="0" rtlCol="0" anchor="ctr"/>
          <a:lstStyle/>
          <a:p>
            <a:pPr algn="ctr" indent="0" marL="0">
              <a:buNone/>
            </a:pPr>
            <a:r>
              <a:rPr lang="en-US" sz="1600" b="1" dirty="0">
                <a:solidFill>
                  <a:srgbClr val="2B1B4E"/>
                </a:solidFill>
                <a:latin typeface="Calibri" pitchFamily="34" charset="0"/>
                <a:ea typeface="Calibri" pitchFamily="34" charset="-122"/>
                <a:cs typeface="Calibri" pitchFamily="34" charset="-120"/>
              </a:rPr>
              <a:t>4. Generate</a:t>
            </a:r>
            <a:endParaRPr lang="en-US" sz="1600" dirty="0"/>
          </a:p>
        </p:txBody>
      </p:sp>
      <p:sp>
        <p:nvSpPr>
          <p:cNvPr id="23" name="Text 17"/>
          <p:cNvSpPr txBox="1"/>
          <p:nvPr/>
        </p:nvSpPr>
        <p:spPr>
          <a:xfrm>
            <a:off x="5486400" y="2743200"/>
            <a:ext cx="1554480" cy="548640"/>
          </a:xfrm>
          <a:prstGeom prst="rect">
            <a:avLst/>
          </a:prstGeom>
          <a:noFill/>
          <a:ln/>
        </p:spPr>
        <p:txBody>
          <a:bodyPr wrap="square" lIns="0" tIns="0" rIns="0" bIns="0" rtlCol="0" anchor="t"/>
          <a:lstStyle/>
          <a:p>
            <a:pPr algn="ctr" indent="0" marL="0">
              <a:buNone/>
            </a:pPr>
            <a:r>
              <a:rPr lang="en-US" sz="1300" dirty="0">
                <a:solidFill>
                  <a:srgbClr val="6B6480"/>
                </a:solidFill>
                <a:latin typeface="Calibri" pitchFamily="34" charset="0"/>
                <a:ea typeface="Calibri" pitchFamily="34" charset="-122"/>
                <a:cs typeface="Calibri" pitchFamily="34" charset="-120"/>
              </a:rPr>
              <a:t>Write the content</a:t>
            </a:r>
            <a:endParaRPr lang="en-US" sz="1300" dirty="0"/>
          </a:p>
        </p:txBody>
      </p:sp>
      <p:sp>
        <p:nvSpPr>
          <p:cNvPr id="24" name="Shape 18"/>
          <p:cNvSpPr/>
          <p:nvPr/>
        </p:nvSpPr>
        <p:spPr>
          <a:xfrm>
            <a:off x="7543800" y="1463040"/>
            <a:ext cx="822960" cy="822960"/>
          </a:xfrm>
          <a:prstGeom prst="ellipse">
            <a:avLst/>
          </a:prstGeom>
          <a:solidFill>
            <a:srgbClr val="FF6B57"/>
          </a:solidFill>
          <a:ln w="12700">
            <a:solidFill>
              <a:srgbClr val="FF6B57"/>
            </a:solidFill>
            <a:prstDash val="solid"/>
          </a:ln>
        </p:spPr>
      </p:sp>
      <p:pic>
        <p:nvPicPr>
          <p:cNvPr id="25" name="Image 4" descr="preencoded.png">    </p:cNvPr>
          <p:cNvPicPr>
            <a:picLocks noChangeAspect="1"/>
          </p:cNvPicPr>
          <p:nvPr/>
        </p:nvPicPr>
        <p:blipFill>
          <a:blip r:embed="rId5"/>
          <a:stretch>
            <a:fillRect/>
          </a:stretch>
        </p:blipFill>
        <p:spPr>
          <a:xfrm>
            <a:off x="7757770" y="1677010"/>
            <a:ext cx="395021" cy="395021"/>
          </a:xfrm>
          <a:prstGeom prst="rect">
            <a:avLst/>
          </a:prstGeom>
        </p:spPr>
      </p:pic>
      <p:sp>
        <p:nvSpPr>
          <p:cNvPr id="26" name="Text 19"/>
          <p:cNvSpPr txBox="1"/>
          <p:nvPr/>
        </p:nvSpPr>
        <p:spPr>
          <a:xfrm>
            <a:off x="7178040" y="2423160"/>
            <a:ext cx="1554480" cy="320040"/>
          </a:xfrm>
          <a:prstGeom prst="rect">
            <a:avLst/>
          </a:prstGeom>
          <a:noFill/>
          <a:ln/>
        </p:spPr>
        <p:txBody>
          <a:bodyPr wrap="square" lIns="0" tIns="0" rIns="0" bIns="0" rtlCol="0" anchor="ctr"/>
          <a:lstStyle/>
          <a:p>
            <a:pPr algn="ctr" indent="0" marL="0">
              <a:buNone/>
            </a:pPr>
            <a:r>
              <a:rPr lang="en-US" sz="1600" b="1" dirty="0">
                <a:solidFill>
                  <a:srgbClr val="2B1B4E"/>
                </a:solidFill>
                <a:latin typeface="Calibri" pitchFamily="34" charset="0"/>
                <a:ea typeface="Calibri" pitchFamily="34" charset="-122"/>
                <a:cs typeface="Calibri" pitchFamily="34" charset="-120"/>
              </a:rPr>
              <a:t>5. Review</a:t>
            </a:r>
            <a:endParaRPr lang="en-US" sz="1600" dirty="0"/>
          </a:p>
        </p:txBody>
      </p:sp>
      <p:sp>
        <p:nvSpPr>
          <p:cNvPr id="27" name="Text 20"/>
          <p:cNvSpPr txBox="1"/>
          <p:nvPr/>
        </p:nvSpPr>
        <p:spPr>
          <a:xfrm>
            <a:off x="7178040" y="2743200"/>
            <a:ext cx="1554480" cy="548640"/>
          </a:xfrm>
          <a:prstGeom prst="rect">
            <a:avLst/>
          </a:prstGeom>
          <a:noFill/>
          <a:ln/>
        </p:spPr>
        <p:txBody>
          <a:bodyPr wrap="square" lIns="0" tIns="0" rIns="0" bIns="0" rtlCol="0" anchor="t"/>
          <a:lstStyle/>
          <a:p>
            <a:pPr algn="ctr" indent="0" marL="0">
              <a:buNone/>
            </a:pPr>
            <a:r>
              <a:rPr lang="en-US" sz="1300" dirty="0">
                <a:solidFill>
                  <a:srgbClr val="6B6480"/>
                </a:solidFill>
                <a:latin typeface="Calibri" pitchFamily="34" charset="0"/>
                <a:ea typeface="Calibri" pitchFamily="34" charset="-122"/>
                <a:cs typeface="Calibri" pitchFamily="34" charset="-120"/>
              </a:rPr>
              <a:t>Evaluate and publish</a:t>
            </a:r>
            <a:endParaRPr lang="en-US" sz="1300" dirty="0"/>
          </a:p>
        </p:txBody>
      </p:sp>
      <p:sp>
        <p:nvSpPr>
          <p:cNvPr id="28" name="Shape 21"/>
          <p:cNvSpPr/>
          <p:nvPr/>
        </p:nvSpPr>
        <p:spPr>
          <a:xfrm>
            <a:off x="548640" y="3657600"/>
            <a:ext cx="8046720" cy="914400"/>
          </a:xfrm>
          <a:prstGeom prst="roundRect">
            <a:avLst>
              <a:gd name="adj" fmla="val 10000"/>
            </a:avLst>
          </a:prstGeom>
          <a:solidFill>
            <a:srgbClr val="2B1B4E"/>
          </a:solidFill>
          <a:ln w="12700">
            <a:solidFill>
              <a:srgbClr val="2B1B4E"/>
            </a:solidFill>
            <a:prstDash val="solid"/>
          </a:ln>
        </p:spPr>
      </p:sp>
      <p:sp>
        <p:nvSpPr>
          <p:cNvPr id="29" name="Text 22"/>
          <p:cNvSpPr txBox="1"/>
          <p:nvPr/>
        </p:nvSpPr>
        <p:spPr>
          <a:xfrm>
            <a:off x="822960" y="3657600"/>
            <a:ext cx="7498080" cy="9144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If a step fails or scores low, the agent loops back and fixes it before moving forward.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Agent Memory</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Memory keeps the agent consistent across steps and campaigns</a:t>
            </a:r>
            <a:endParaRPr lang="en-US" sz="1500" dirty="0"/>
          </a:p>
        </p:txBody>
      </p:sp>
      <p:sp>
        <p:nvSpPr>
          <p:cNvPr id="4" name="Shape 2"/>
          <p:cNvSpPr/>
          <p:nvPr/>
        </p:nvSpPr>
        <p:spPr>
          <a:xfrm>
            <a:off x="548640" y="1463040"/>
            <a:ext cx="2560320" cy="3108960"/>
          </a:xfrm>
          <a:prstGeom prst="roundRect">
            <a:avLst>
              <a:gd name="adj" fmla="val 357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5" name="Shape 3"/>
          <p:cNvSpPr/>
          <p:nvPr/>
        </p:nvSpPr>
        <p:spPr>
          <a:xfrm>
            <a:off x="777240" y="1691640"/>
            <a:ext cx="731520" cy="73152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967435" y="1881835"/>
            <a:ext cx="351130" cy="351130"/>
          </a:xfrm>
          <a:prstGeom prst="rect">
            <a:avLst/>
          </a:prstGeom>
        </p:spPr>
      </p:pic>
      <p:sp>
        <p:nvSpPr>
          <p:cNvPr id="7" name="Text 4"/>
          <p:cNvSpPr txBox="1"/>
          <p:nvPr/>
        </p:nvSpPr>
        <p:spPr>
          <a:xfrm>
            <a:off x="777240" y="2606040"/>
            <a:ext cx="2103120" cy="365760"/>
          </a:xfrm>
          <a:prstGeom prst="rect">
            <a:avLst/>
          </a:prstGeom>
          <a:noFill/>
          <a:ln/>
        </p:spPr>
        <p:txBody>
          <a:bodyPr wrap="square" lIns="0" tIns="0" rIns="0" bIns="0" rtlCol="0" anchor="ctr"/>
          <a:lstStyle/>
          <a:p>
            <a:pPr indent="0" marL="0">
              <a:buNone/>
            </a:pPr>
            <a:r>
              <a:rPr lang="en-US" sz="2000" b="1" dirty="0">
                <a:solidFill>
                  <a:srgbClr val="2B1B4E"/>
                </a:solidFill>
                <a:latin typeface="Cambria" pitchFamily="34" charset="0"/>
                <a:ea typeface="Cambria" pitchFamily="34" charset="-122"/>
                <a:cs typeface="Cambria" pitchFamily="34" charset="-120"/>
              </a:rPr>
              <a:t>Short-term</a:t>
            </a:r>
            <a:endParaRPr lang="en-US" sz="2000" dirty="0"/>
          </a:p>
        </p:txBody>
      </p:sp>
      <p:sp>
        <p:nvSpPr>
          <p:cNvPr id="8" name="Text 5"/>
          <p:cNvSpPr txBox="1"/>
          <p:nvPr/>
        </p:nvSpPr>
        <p:spPr>
          <a:xfrm>
            <a:off x="777240" y="3017520"/>
            <a:ext cx="2103120" cy="1371600"/>
          </a:xfrm>
          <a:prstGeom prst="rect">
            <a:avLst/>
          </a:prstGeom>
          <a:noFill/>
          <a:ln/>
        </p:spPr>
        <p:txBody>
          <a:bodyPr wrap="square" lIns="0" tIns="0" rIns="0" bIns="0" rtlCol="0" anchor="t"/>
          <a:lstStyle/>
          <a:p>
            <a:pPr indent="0" marL="0">
              <a:buNone/>
            </a:pPr>
            <a:r>
              <a:rPr lang="en-US" sz="1400" dirty="0">
                <a:solidFill>
                  <a:srgbClr val="2B2B3A"/>
                </a:solidFill>
                <a:latin typeface="Calibri" pitchFamily="34" charset="0"/>
                <a:ea typeface="Calibri" pitchFamily="34" charset="-122"/>
                <a:cs typeface="Calibri" pitchFamily="34" charset="-120"/>
              </a:rPr>
              <a:t>Current brief, plan and task results shared between workflow steps.</a:t>
            </a:r>
            <a:endParaRPr lang="en-US" sz="1400" dirty="0"/>
          </a:p>
        </p:txBody>
      </p:sp>
      <p:sp>
        <p:nvSpPr>
          <p:cNvPr id="9" name="Shape 6"/>
          <p:cNvSpPr/>
          <p:nvPr/>
        </p:nvSpPr>
        <p:spPr>
          <a:xfrm>
            <a:off x="3291840" y="1463040"/>
            <a:ext cx="2560320" cy="3108960"/>
          </a:xfrm>
          <a:prstGeom prst="roundRect">
            <a:avLst>
              <a:gd name="adj" fmla="val 357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0" name="Shape 7"/>
          <p:cNvSpPr/>
          <p:nvPr/>
        </p:nvSpPr>
        <p:spPr>
          <a:xfrm>
            <a:off x="3520440" y="1691640"/>
            <a:ext cx="731520" cy="731520"/>
          </a:xfrm>
          <a:prstGeom prst="ellipse">
            <a:avLst/>
          </a:prstGeom>
          <a:solidFill>
            <a:srgbClr val="4A3480"/>
          </a:solidFill>
          <a:ln w="12700">
            <a:solidFill>
              <a:srgbClr val="4A3480"/>
            </a:solidFill>
            <a:prstDash val="solid"/>
          </a:ln>
        </p:spPr>
      </p:sp>
      <p:pic>
        <p:nvPicPr>
          <p:cNvPr id="11" name="Image 1" descr="preencoded.png">    </p:cNvPr>
          <p:cNvPicPr>
            <a:picLocks noChangeAspect="1"/>
          </p:cNvPicPr>
          <p:nvPr/>
        </p:nvPicPr>
        <p:blipFill>
          <a:blip r:embed="rId2"/>
          <a:stretch>
            <a:fillRect/>
          </a:stretch>
        </p:blipFill>
        <p:spPr>
          <a:xfrm>
            <a:off x="3710635" y="1881835"/>
            <a:ext cx="351130" cy="351130"/>
          </a:xfrm>
          <a:prstGeom prst="rect">
            <a:avLst/>
          </a:prstGeom>
        </p:spPr>
      </p:pic>
      <p:sp>
        <p:nvSpPr>
          <p:cNvPr id="12" name="Text 8"/>
          <p:cNvSpPr txBox="1"/>
          <p:nvPr/>
        </p:nvSpPr>
        <p:spPr>
          <a:xfrm>
            <a:off x="3520440" y="2606040"/>
            <a:ext cx="2103120" cy="365760"/>
          </a:xfrm>
          <a:prstGeom prst="rect">
            <a:avLst/>
          </a:prstGeom>
          <a:noFill/>
          <a:ln/>
        </p:spPr>
        <p:txBody>
          <a:bodyPr wrap="square" lIns="0" tIns="0" rIns="0" bIns="0" rtlCol="0" anchor="ctr"/>
          <a:lstStyle/>
          <a:p>
            <a:pPr indent="0" marL="0">
              <a:buNone/>
            </a:pPr>
            <a:r>
              <a:rPr lang="en-US" sz="2000" b="1" dirty="0">
                <a:solidFill>
                  <a:srgbClr val="2B1B4E"/>
                </a:solidFill>
                <a:latin typeface="Cambria" pitchFamily="34" charset="0"/>
                <a:ea typeface="Cambria" pitchFamily="34" charset="-122"/>
                <a:cs typeface="Cambria" pitchFamily="34" charset="-120"/>
              </a:rPr>
              <a:t>Long-term</a:t>
            </a:r>
            <a:endParaRPr lang="en-US" sz="2000" dirty="0"/>
          </a:p>
        </p:txBody>
      </p:sp>
      <p:sp>
        <p:nvSpPr>
          <p:cNvPr id="13" name="Text 9"/>
          <p:cNvSpPr txBox="1"/>
          <p:nvPr/>
        </p:nvSpPr>
        <p:spPr>
          <a:xfrm>
            <a:off x="3520440" y="3017520"/>
            <a:ext cx="2103120" cy="1371600"/>
          </a:xfrm>
          <a:prstGeom prst="rect">
            <a:avLst/>
          </a:prstGeom>
          <a:noFill/>
          <a:ln/>
        </p:spPr>
        <p:txBody>
          <a:bodyPr wrap="square" lIns="0" tIns="0" rIns="0" bIns="0" rtlCol="0" anchor="t"/>
          <a:lstStyle/>
          <a:p>
            <a:pPr indent="0" marL="0">
              <a:buNone/>
            </a:pPr>
            <a:r>
              <a:rPr lang="en-US" sz="1400" dirty="0">
                <a:solidFill>
                  <a:srgbClr val="2B2B3A"/>
                </a:solidFill>
                <a:latin typeface="Calibri" pitchFamily="34" charset="0"/>
                <a:ea typeface="Calibri" pitchFamily="34" charset="-122"/>
                <a:cs typeface="Calibri" pitchFamily="34" charset="-120"/>
              </a:rPr>
              <a:t>Brand voice, audience profiles and past campaigns stored for reuse.</a:t>
            </a:r>
            <a:endParaRPr lang="en-US" sz="1400" dirty="0"/>
          </a:p>
        </p:txBody>
      </p:sp>
      <p:sp>
        <p:nvSpPr>
          <p:cNvPr id="14" name="Shape 10"/>
          <p:cNvSpPr/>
          <p:nvPr/>
        </p:nvSpPr>
        <p:spPr>
          <a:xfrm>
            <a:off x="6035040" y="1463040"/>
            <a:ext cx="2560320" cy="3108960"/>
          </a:xfrm>
          <a:prstGeom prst="roundRect">
            <a:avLst>
              <a:gd name="adj" fmla="val 357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5" name="Shape 11"/>
          <p:cNvSpPr/>
          <p:nvPr/>
        </p:nvSpPr>
        <p:spPr>
          <a:xfrm>
            <a:off x="6263640" y="1691640"/>
            <a:ext cx="731520" cy="731520"/>
          </a:xfrm>
          <a:prstGeom prst="ellipse">
            <a:avLst/>
          </a:prstGeom>
          <a:solidFill>
            <a:srgbClr val="FF6B57"/>
          </a:solidFill>
          <a:ln w="12700">
            <a:solidFill>
              <a:srgbClr val="FF6B57"/>
            </a:solidFill>
            <a:prstDash val="solid"/>
          </a:ln>
        </p:spPr>
      </p:sp>
      <p:pic>
        <p:nvPicPr>
          <p:cNvPr id="16" name="Image 2" descr="preencoded.png">    </p:cNvPr>
          <p:cNvPicPr>
            <a:picLocks noChangeAspect="1"/>
          </p:cNvPicPr>
          <p:nvPr/>
        </p:nvPicPr>
        <p:blipFill>
          <a:blip r:embed="rId3"/>
          <a:stretch>
            <a:fillRect/>
          </a:stretch>
        </p:blipFill>
        <p:spPr>
          <a:xfrm>
            <a:off x="6453835" y="1881835"/>
            <a:ext cx="351130" cy="351130"/>
          </a:xfrm>
          <a:prstGeom prst="rect">
            <a:avLst/>
          </a:prstGeom>
        </p:spPr>
      </p:pic>
      <p:sp>
        <p:nvSpPr>
          <p:cNvPr id="17" name="Text 12"/>
          <p:cNvSpPr txBox="1"/>
          <p:nvPr/>
        </p:nvSpPr>
        <p:spPr>
          <a:xfrm>
            <a:off x="6263640" y="2606040"/>
            <a:ext cx="2103120" cy="365760"/>
          </a:xfrm>
          <a:prstGeom prst="rect">
            <a:avLst/>
          </a:prstGeom>
          <a:noFill/>
          <a:ln/>
        </p:spPr>
        <p:txBody>
          <a:bodyPr wrap="square" lIns="0" tIns="0" rIns="0" bIns="0" rtlCol="0" anchor="ctr"/>
          <a:lstStyle/>
          <a:p>
            <a:pPr indent="0" marL="0">
              <a:buNone/>
            </a:pPr>
            <a:r>
              <a:rPr lang="en-US" sz="2000" b="1" dirty="0">
                <a:solidFill>
                  <a:srgbClr val="2B1B4E"/>
                </a:solidFill>
                <a:latin typeface="Cambria" pitchFamily="34" charset="0"/>
                <a:ea typeface="Cambria" pitchFamily="34" charset="-122"/>
                <a:cs typeface="Cambria" pitchFamily="34" charset="-120"/>
              </a:rPr>
              <a:t>Feedback</a:t>
            </a:r>
            <a:endParaRPr lang="en-US" sz="2000" dirty="0"/>
          </a:p>
        </p:txBody>
      </p:sp>
      <p:sp>
        <p:nvSpPr>
          <p:cNvPr id="18" name="Text 13"/>
          <p:cNvSpPr txBox="1"/>
          <p:nvPr/>
        </p:nvSpPr>
        <p:spPr>
          <a:xfrm>
            <a:off x="6263640" y="3017520"/>
            <a:ext cx="2103120" cy="1371600"/>
          </a:xfrm>
          <a:prstGeom prst="rect">
            <a:avLst/>
          </a:prstGeom>
          <a:noFill/>
          <a:ln/>
        </p:spPr>
        <p:txBody>
          <a:bodyPr wrap="square" lIns="0" tIns="0" rIns="0" bIns="0" rtlCol="0" anchor="t"/>
          <a:lstStyle/>
          <a:p>
            <a:pPr indent="0" marL="0">
              <a:buNone/>
            </a:pPr>
            <a:r>
              <a:rPr lang="en-US" sz="1400" dirty="0">
                <a:solidFill>
                  <a:srgbClr val="2B2B3A"/>
                </a:solidFill>
                <a:latin typeface="Calibri" pitchFamily="34" charset="0"/>
                <a:ea typeface="Calibri" pitchFamily="34" charset="-122"/>
                <a:cs typeface="Calibri" pitchFamily="34" charset="-120"/>
              </a:rPr>
              <a:t>What performed well or poorly, used to improve the next plan.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Structured Outputs</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Every result follows a fixed, machine-readable format</a:t>
            </a:r>
            <a:endParaRPr lang="en-US" sz="1500" dirty="0"/>
          </a:p>
        </p:txBody>
      </p:sp>
      <p:sp>
        <p:nvSpPr>
          <p:cNvPr id="4" name="Text 2"/>
          <p:cNvSpPr txBox="1"/>
          <p:nvPr/>
        </p:nvSpPr>
        <p:spPr>
          <a:xfrm>
            <a:off x="548640" y="1463040"/>
            <a:ext cx="384048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2B2B3A"/>
                </a:solidFill>
                <a:latin typeface="Calibri" pitchFamily="34" charset="0"/>
                <a:ea typeface="Calibri" pitchFamily="34" charset="-122"/>
                <a:cs typeface="Calibri" pitchFamily="34" charset="-120"/>
              </a:rPr>
              <a:t>Uses JSON schemas for plans and content</a:t>
            </a:r>
            <a:endParaRPr lang="en-US" sz="1600" dirty="0"/>
          </a:p>
          <a:p>
            <a:pPr marL="342900" indent="-342900">
              <a:spcAft>
                <a:spcPts val="1400"/>
              </a:spcAft>
              <a:buSzPct val="100000"/>
              <a:buChar char="•"/>
            </a:pPr>
            <a:r>
              <a:rPr lang="en-US" sz="1600" dirty="0">
                <a:solidFill>
                  <a:srgbClr val="2B2B3A"/>
                </a:solidFill>
                <a:latin typeface="Calibri" pitchFamily="34" charset="0"/>
                <a:ea typeface="Calibri" pitchFamily="34" charset="-122"/>
                <a:cs typeface="Calibri" pitchFamily="34" charset="-120"/>
              </a:rPr>
              <a:t>Easy to validate and to test automatically</a:t>
            </a:r>
            <a:endParaRPr lang="en-US" sz="1600" dirty="0"/>
          </a:p>
          <a:p>
            <a:pPr marL="342900" indent="-342900">
              <a:spcAft>
                <a:spcPts val="1400"/>
              </a:spcAft>
              <a:buSzPct val="100000"/>
              <a:buChar char="•"/>
            </a:pPr>
            <a:r>
              <a:rPr lang="en-US" sz="1600" dirty="0">
                <a:solidFill>
                  <a:srgbClr val="2B2B3A"/>
                </a:solidFill>
                <a:latin typeface="Calibri" pitchFamily="34" charset="0"/>
                <a:ea typeface="Calibri" pitchFamily="34" charset="-122"/>
                <a:cs typeface="Calibri" pitchFamily="34" charset="-120"/>
              </a:rPr>
              <a:t>Feeds directly into scheduling and email tools</a:t>
            </a:r>
            <a:endParaRPr lang="en-US" sz="1600" dirty="0"/>
          </a:p>
          <a:p>
            <a:pPr marL="342900" indent="-342900">
              <a:spcAft>
                <a:spcPts val="1400"/>
              </a:spcAft>
              <a:buSzPct val="100000"/>
              <a:buChar char="•"/>
            </a:pPr>
            <a:r>
              <a:rPr lang="en-US" sz="1600" dirty="0">
                <a:solidFill>
                  <a:srgbClr val="2B2B3A"/>
                </a:solidFill>
                <a:latin typeface="Calibri" pitchFamily="34" charset="0"/>
                <a:ea typeface="Calibri" pitchFamily="34" charset="-122"/>
                <a:cs typeface="Calibri" pitchFamily="34" charset="-120"/>
              </a:rPr>
              <a:t>Keeps output consistent across channels</a:t>
            </a:r>
            <a:endParaRPr lang="en-US" sz="1600" dirty="0"/>
          </a:p>
        </p:txBody>
      </p:sp>
      <p:sp>
        <p:nvSpPr>
          <p:cNvPr id="5" name="Shape 3"/>
          <p:cNvSpPr/>
          <p:nvPr/>
        </p:nvSpPr>
        <p:spPr>
          <a:xfrm>
            <a:off x="4663440" y="1417320"/>
            <a:ext cx="3931920" cy="3200400"/>
          </a:xfrm>
          <a:prstGeom prst="roundRect">
            <a:avLst>
              <a:gd name="adj" fmla="val 3429"/>
            </a:avLst>
          </a:prstGeom>
          <a:solidFill>
            <a:srgbClr val="2B1B4E"/>
          </a:solidFill>
          <a:ln w="12700">
            <a:solidFill>
              <a:srgbClr val="2B1B4E"/>
            </a:solidFill>
            <a:prstDash val="solid"/>
          </a:ln>
        </p:spPr>
      </p:sp>
      <p:sp>
        <p:nvSpPr>
          <p:cNvPr id="6" name="Text 4"/>
          <p:cNvSpPr txBox="1"/>
          <p:nvPr/>
        </p:nvSpPr>
        <p:spPr>
          <a:xfrm>
            <a:off x="4846320" y="1554480"/>
            <a:ext cx="3566160" cy="2926080"/>
          </a:xfrm>
          <a:prstGeom prst="rect">
            <a:avLst/>
          </a:prstGeom>
          <a:noFill/>
          <a:ln/>
        </p:spPr>
        <p:txBody>
          <a:bodyPr wrap="square" lIns="0" tIns="0" rIns="0" bIns="0" rtlCol="0" anchor="ctr"/>
          <a:lstStyle/>
          <a:p>
            <a:pPr indent="0" marL="0">
              <a:buNone/>
            </a:pPr>
            <a:r>
              <a:rPr lang="en-US" sz="1200" dirty="0">
                <a:solidFill>
                  <a:srgbClr val="D9D0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"campaign": "Eco Bottle Launch",</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"audience": "Gen Z, 18-25",</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"channels": ["Instagram", "Email"],</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"posts": [{</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"day": 1,</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"copy": "Sip smart. Save earth.",</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"cta": "Shop now"</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9D0F2"/>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685800"/>
          </a:xfrm>
          <a:prstGeom prst="rect">
            <a:avLst/>
          </a:prstGeom>
          <a:noFill/>
          <a:ln/>
        </p:spPr>
        <p:txBody>
          <a:bodyPr wrap="square" lIns="0" tIns="0" rIns="0" bIns="0" rtlCol="0" anchor="ctr"/>
          <a:lstStyle/>
          <a:p>
            <a:pPr indent="0" marL="0">
              <a:buNone/>
            </a:pPr>
            <a:r>
              <a:rPr lang="en-US" sz="3600" b="1" dirty="0">
                <a:solidFill>
                  <a:srgbClr val="2B1B4E"/>
                </a:solidFill>
                <a:latin typeface="Cambria" pitchFamily="34" charset="0"/>
                <a:ea typeface="Cambria" pitchFamily="34" charset="-122"/>
                <a:cs typeface="Cambria" pitchFamily="34" charset="-120"/>
              </a:rPr>
              <a:t>Evaluation &amp; Testing</a:t>
            </a:r>
            <a:endParaRPr lang="en-US" sz="36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indent="0" marL="0">
              <a:buNone/>
            </a:pPr>
            <a:r>
              <a:rPr lang="en-US" sz="1500" dirty="0">
                <a:solidFill>
                  <a:srgbClr val="6B6480"/>
                </a:solidFill>
                <a:latin typeface="Calibri" pitchFamily="34" charset="0"/>
                <a:ea typeface="Calibri" pitchFamily="34" charset="-122"/>
                <a:cs typeface="Calibri" pitchFamily="34" charset="-120"/>
              </a:rPr>
              <a:t>Quality is checked before anything is published</a:t>
            </a:r>
            <a:endParaRPr lang="en-US" sz="1500" dirty="0"/>
          </a:p>
        </p:txBody>
      </p:sp>
      <p:sp>
        <p:nvSpPr>
          <p:cNvPr id="4" name="Shape 2"/>
          <p:cNvSpPr/>
          <p:nvPr/>
        </p:nvSpPr>
        <p:spPr>
          <a:xfrm>
            <a:off x="548640" y="1463040"/>
            <a:ext cx="3931920" cy="3108960"/>
          </a:xfrm>
          <a:prstGeom prst="roundRect">
            <a:avLst>
              <a:gd name="adj" fmla="val 294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5" name="Shape 3"/>
          <p:cNvSpPr/>
          <p:nvPr/>
        </p:nvSpPr>
        <p:spPr>
          <a:xfrm>
            <a:off x="822960" y="1691640"/>
            <a:ext cx="640080" cy="640080"/>
          </a:xfrm>
          <a:prstGeom prst="ellipse">
            <a:avLst/>
          </a:prstGeom>
          <a:solidFill>
            <a:srgbClr val="FF6B57"/>
          </a:solidFill>
          <a:ln w="12700">
            <a:solidFill>
              <a:srgbClr val="FF6B57"/>
            </a:solidFill>
            <a:prstDash val="solid"/>
          </a:ln>
        </p:spPr>
      </p:sp>
      <p:pic>
        <p:nvPicPr>
          <p:cNvPr id="6" name="Image 0" descr="preencoded.png">    </p:cNvPr>
          <p:cNvPicPr>
            <a:picLocks noChangeAspect="1"/>
          </p:cNvPicPr>
          <p:nvPr/>
        </p:nvPicPr>
        <p:blipFill>
          <a:blip r:embed="rId1"/>
          <a:stretch>
            <a:fillRect/>
          </a:stretch>
        </p:blipFill>
        <p:spPr>
          <a:xfrm>
            <a:off x="989381" y="1858061"/>
            <a:ext cx="307238" cy="307238"/>
          </a:xfrm>
          <a:prstGeom prst="rect">
            <a:avLst/>
          </a:prstGeom>
        </p:spPr>
      </p:pic>
      <p:sp>
        <p:nvSpPr>
          <p:cNvPr id="7" name="Text 4"/>
          <p:cNvSpPr txBox="1"/>
          <p:nvPr/>
        </p:nvSpPr>
        <p:spPr>
          <a:xfrm>
            <a:off x="1645920" y="1691640"/>
            <a:ext cx="2651760" cy="640080"/>
          </a:xfrm>
          <a:prstGeom prst="rect">
            <a:avLst/>
          </a:prstGeom>
          <a:noFill/>
          <a:ln/>
        </p:spPr>
        <p:txBody>
          <a:bodyPr wrap="square" lIns="0" tIns="0" rIns="0" bIns="0" rtlCol="0" anchor="ctr"/>
          <a:lstStyle/>
          <a:p>
            <a:pPr indent="0" marL="0">
              <a:buNone/>
            </a:pPr>
            <a:r>
              <a:rPr lang="en-US" sz="2200" b="1" dirty="0">
                <a:solidFill>
                  <a:srgbClr val="2B1B4E"/>
                </a:solidFill>
                <a:latin typeface="Cambria" pitchFamily="34" charset="0"/>
                <a:ea typeface="Cambria" pitchFamily="34" charset="-122"/>
                <a:cs typeface="Cambria" pitchFamily="34" charset="-120"/>
              </a:rPr>
              <a:t>Evaluation</a:t>
            </a:r>
            <a:endParaRPr lang="en-US" sz="2200" dirty="0"/>
          </a:p>
        </p:txBody>
      </p:sp>
      <p:sp>
        <p:nvSpPr>
          <p:cNvPr id="8" name="Text 5"/>
          <p:cNvSpPr txBox="1"/>
          <p:nvPr/>
        </p:nvSpPr>
        <p:spPr>
          <a:xfrm>
            <a:off x="822960" y="256032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Brand-voice consistency score</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Goal and audience alignment</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Rubric or LLM-as-judge review</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Human approval for final content</a:t>
            </a:r>
            <a:endParaRPr lang="en-US" sz="1400" dirty="0"/>
          </a:p>
        </p:txBody>
      </p:sp>
      <p:sp>
        <p:nvSpPr>
          <p:cNvPr id="9" name="Shape 6"/>
          <p:cNvSpPr/>
          <p:nvPr/>
        </p:nvSpPr>
        <p:spPr>
          <a:xfrm>
            <a:off x="4663440" y="1463040"/>
            <a:ext cx="3931920" cy="3108960"/>
          </a:xfrm>
          <a:prstGeom prst="roundRect">
            <a:avLst>
              <a:gd name="adj" fmla="val 2941"/>
            </a:avLst>
          </a:prstGeom>
          <a:solidFill>
            <a:srgbClr val="F6F3FF"/>
          </a:solidFill>
          <a:ln w="12700">
            <a:solidFill>
              <a:srgbClr val="F6F3FF"/>
            </a:solidFill>
            <a:prstDash val="solid"/>
          </a:ln>
          <a:effectLst>
            <a:outerShdw sx="100000" sy="100000" kx="0" ky="0" algn="bl" rotWithShape="0" blurRad="76200" dist="25400" dir="5400000">
              <a:srgbClr val="000000">
                <a:alpha val="15000"/>
              </a:srgbClr>
            </a:outerShdw>
          </a:effectLst>
        </p:spPr>
      </p:sp>
      <p:sp>
        <p:nvSpPr>
          <p:cNvPr id="10" name="Shape 7"/>
          <p:cNvSpPr/>
          <p:nvPr/>
        </p:nvSpPr>
        <p:spPr>
          <a:xfrm>
            <a:off x="4937760" y="1691640"/>
            <a:ext cx="640080" cy="640080"/>
          </a:xfrm>
          <a:prstGeom prst="ellipse">
            <a:avLst/>
          </a:prstGeom>
          <a:solidFill>
            <a:srgbClr val="4A3480"/>
          </a:solidFill>
          <a:ln w="12700">
            <a:solidFill>
              <a:srgbClr val="4A3480"/>
            </a:solidFill>
            <a:prstDash val="solid"/>
          </a:ln>
        </p:spPr>
      </p:sp>
      <p:pic>
        <p:nvPicPr>
          <p:cNvPr id="11" name="Image 1" descr="preencoded.png">    </p:cNvPr>
          <p:cNvPicPr>
            <a:picLocks noChangeAspect="1"/>
          </p:cNvPicPr>
          <p:nvPr/>
        </p:nvPicPr>
        <p:blipFill>
          <a:blip r:embed="rId2"/>
          <a:stretch>
            <a:fillRect/>
          </a:stretch>
        </p:blipFill>
        <p:spPr>
          <a:xfrm>
            <a:off x="5104181" y="1858061"/>
            <a:ext cx="307238" cy="307238"/>
          </a:xfrm>
          <a:prstGeom prst="rect">
            <a:avLst/>
          </a:prstGeom>
        </p:spPr>
      </p:pic>
      <p:sp>
        <p:nvSpPr>
          <p:cNvPr id="12" name="Text 8"/>
          <p:cNvSpPr txBox="1"/>
          <p:nvPr/>
        </p:nvSpPr>
        <p:spPr>
          <a:xfrm>
            <a:off x="5760720" y="1691640"/>
            <a:ext cx="2651760" cy="640080"/>
          </a:xfrm>
          <a:prstGeom prst="rect">
            <a:avLst/>
          </a:prstGeom>
          <a:noFill/>
          <a:ln/>
        </p:spPr>
        <p:txBody>
          <a:bodyPr wrap="square" lIns="0" tIns="0" rIns="0" bIns="0" rtlCol="0" anchor="ctr"/>
          <a:lstStyle/>
          <a:p>
            <a:pPr indent="0" marL="0">
              <a:buNone/>
            </a:pPr>
            <a:r>
              <a:rPr lang="en-US" sz="2200" b="1" dirty="0">
                <a:solidFill>
                  <a:srgbClr val="2B1B4E"/>
                </a:solidFill>
                <a:latin typeface="Cambria" pitchFamily="34" charset="0"/>
                <a:ea typeface="Cambria" pitchFamily="34" charset="-122"/>
                <a:cs typeface="Cambria" pitchFamily="34" charset="-120"/>
              </a:rPr>
              <a:t>Testing</a:t>
            </a:r>
            <a:endParaRPr lang="en-US" sz="2200" dirty="0"/>
          </a:p>
        </p:txBody>
      </p:sp>
      <p:sp>
        <p:nvSpPr>
          <p:cNvPr id="13" name="Text 9"/>
          <p:cNvSpPr txBox="1"/>
          <p:nvPr/>
        </p:nvSpPr>
        <p:spPr>
          <a:xfrm>
            <a:off x="4937760" y="256032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Schema checks on every output</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Test briefs for each campaign type</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A/B testing of headlines and copy</a:t>
            </a:r>
            <a:endParaRPr lang="en-US" sz="1400" dirty="0"/>
          </a:p>
          <a:p>
            <a:pPr marL="342900" indent="-342900">
              <a:spcAft>
                <a:spcPts val="800"/>
              </a:spcAft>
              <a:buSzPct val="100000"/>
              <a:buChar char="•"/>
            </a:pPr>
            <a:r>
              <a:rPr lang="en-US" sz="1400" dirty="0">
                <a:solidFill>
                  <a:srgbClr val="2B2B3A"/>
                </a:solidFill>
                <a:latin typeface="Calibri" pitchFamily="34" charset="0"/>
                <a:ea typeface="Calibri" pitchFamily="34" charset="-122"/>
                <a:cs typeface="Calibri" pitchFamily="34" charset="-120"/>
              </a:rPr>
              <a:t>Regression tests after prompt changes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1B4E"/>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280160"/>
            <a:ext cx="5120640" cy="21031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The agent plans, decomposes, writes and evaluates campaigns in one flow</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Memory keeps brand voice and learning consistent</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Structured outputs and testing make results reliable</a:t>
            </a:r>
            <a:endParaRPr lang="en-US" sz="1600" dirty="0"/>
          </a:p>
        </p:txBody>
      </p:sp>
      <p:sp>
        <p:nvSpPr>
          <p:cNvPr id="4" name="Text 2"/>
          <p:cNvSpPr txBox="1"/>
          <p:nvPr/>
        </p:nvSpPr>
        <p:spPr>
          <a:xfrm>
            <a:off x="548640" y="3429000"/>
            <a:ext cx="5120640" cy="274320"/>
          </a:xfrm>
          <a:prstGeom prst="rect">
            <a:avLst/>
          </a:prstGeom>
          <a:noFill/>
          <a:ln/>
        </p:spPr>
        <p:txBody>
          <a:bodyPr wrap="square" lIns="0" tIns="0" rIns="0" bIns="0" rtlCol="0" anchor="ctr"/>
          <a:lstStyle/>
          <a:p>
            <a:pPr indent="0" marL="0">
              <a:buNone/>
            </a:pPr>
            <a:r>
              <a:rPr lang="en-US" sz="1200" b="1" dirty="0">
                <a:solidFill>
                  <a:srgbClr val="F7B32B"/>
                </a:solidFill>
                <a:latin typeface="Calibri" pitchFamily="34" charset="0"/>
                <a:ea typeface="Calibri" pitchFamily="34" charset="-122"/>
                <a:cs typeface="Calibri" pitchFamily="34" charset="-120"/>
              </a:rPr>
              <a:t>FUTURE SCOPE</a:t>
            </a:r>
            <a:endParaRPr lang="en-US" sz="1200" dirty="0"/>
          </a:p>
        </p:txBody>
      </p:sp>
      <p:sp>
        <p:nvSpPr>
          <p:cNvPr id="5" name="Text 3"/>
          <p:cNvSpPr txBox="1"/>
          <p:nvPr/>
        </p:nvSpPr>
        <p:spPr>
          <a:xfrm>
            <a:off x="548640" y="3703320"/>
            <a:ext cx="5120640" cy="640080"/>
          </a:xfrm>
          <a:prstGeom prst="rect">
            <a:avLst/>
          </a:prstGeom>
          <a:noFill/>
          <a:ln/>
        </p:spPr>
        <p:txBody>
          <a:bodyPr wrap="square" lIns="0" tIns="0" rIns="0" bIns="0" rtlCol="0" anchor="t"/>
          <a:lstStyle/>
          <a:p>
            <a:pPr indent="0" marL="0">
              <a:buNone/>
            </a:pPr>
            <a:r>
              <a:rPr lang="en-US" sz="1400" dirty="0">
                <a:solidFill>
                  <a:srgbClr val="D9D0F2"/>
                </a:solidFill>
                <a:latin typeface="Calibri" pitchFamily="34" charset="0"/>
                <a:ea typeface="Calibri" pitchFamily="34" charset="-122"/>
                <a:cs typeface="Calibri" pitchFamily="34" charset="-120"/>
              </a:rPr>
              <a:t>Live analytics feedback, image and video generation, multi-language campaigns</a:t>
            </a:r>
            <a:endParaRPr lang="en-US" sz="1400" dirty="0"/>
          </a:p>
        </p:txBody>
      </p:sp>
      <p:sp>
        <p:nvSpPr>
          <p:cNvPr id="6" name="Shape 4"/>
          <p:cNvSpPr/>
          <p:nvPr/>
        </p:nvSpPr>
        <p:spPr>
          <a:xfrm>
            <a:off x="6492240" y="1097280"/>
            <a:ext cx="1463040" cy="1463040"/>
          </a:xfrm>
          <a:prstGeom prst="ellipse">
            <a:avLst/>
          </a:prstGeom>
          <a:solidFill>
            <a:srgbClr val="FF6B57"/>
          </a:solidFill>
          <a:ln w="12700">
            <a:solidFill>
              <a:srgbClr val="FF6B57"/>
            </a:solidFill>
            <a:prstDash val="solid"/>
          </a:ln>
        </p:spPr>
      </p:sp>
      <p:pic>
        <p:nvPicPr>
          <p:cNvPr id="7" name="Image 0" descr="preencoded.png">    </p:cNvPr>
          <p:cNvPicPr>
            <a:picLocks noChangeAspect="1"/>
          </p:cNvPicPr>
          <p:nvPr/>
        </p:nvPicPr>
        <p:blipFill>
          <a:blip r:embed="rId1"/>
          <a:stretch>
            <a:fillRect/>
          </a:stretch>
        </p:blipFill>
        <p:spPr>
          <a:xfrm>
            <a:off x="6872630" y="1477670"/>
            <a:ext cx="702259" cy="702259"/>
          </a:xfrm>
          <a:prstGeom prst="rect">
            <a:avLst/>
          </a:prstGeom>
        </p:spPr>
      </p:pic>
      <p:sp>
        <p:nvSpPr>
          <p:cNvPr id="8" name="Shape 5"/>
          <p:cNvSpPr/>
          <p:nvPr/>
        </p:nvSpPr>
        <p:spPr>
          <a:xfrm>
            <a:off x="6035040" y="457200"/>
            <a:ext cx="548640" cy="548640"/>
          </a:xfrm>
          <a:prstGeom prst="ellipse">
            <a:avLst/>
          </a:prstGeom>
          <a:solidFill>
            <a:srgbClr val="4A3480"/>
          </a:solidFill>
          <a:ln w="12700">
            <a:solidFill>
              <a:srgbClr val="4A3480"/>
            </a:solidFill>
            <a:prstDash val="solid"/>
          </a:ln>
        </p:spPr>
      </p:sp>
      <p:pic>
        <p:nvPicPr>
          <p:cNvPr id="9" name="Image 1" descr="preencoded.png">    </p:cNvPr>
          <p:cNvPicPr>
            <a:picLocks noChangeAspect="1"/>
          </p:cNvPicPr>
          <p:nvPr/>
        </p:nvPicPr>
        <p:blipFill>
          <a:blip r:embed="rId2"/>
          <a:stretch>
            <a:fillRect/>
          </a:stretch>
        </p:blipFill>
        <p:spPr>
          <a:xfrm>
            <a:off x="6177686" y="599846"/>
            <a:ext cx="263347" cy="263347"/>
          </a:xfrm>
          <a:prstGeom prst="rect">
            <a:avLst/>
          </a:prstGeom>
        </p:spPr>
      </p:pic>
      <p:sp>
        <p:nvSpPr>
          <p:cNvPr id="10" name="Shape 6"/>
          <p:cNvSpPr/>
          <p:nvPr/>
        </p:nvSpPr>
        <p:spPr>
          <a:xfrm>
            <a:off x="7955280" y="457200"/>
            <a:ext cx="548640" cy="548640"/>
          </a:xfrm>
          <a:prstGeom prst="ellipse">
            <a:avLst/>
          </a:prstGeom>
          <a:solidFill>
            <a:srgbClr val="4A3480"/>
          </a:solidFill>
          <a:ln w="12700">
            <a:solidFill>
              <a:srgbClr val="4A3480"/>
            </a:solidFill>
            <a:prstDash val="solid"/>
          </a:ln>
        </p:spPr>
      </p:sp>
      <p:pic>
        <p:nvPicPr>
          <p:cNvPr id="11" name="Image 2" descr="preencoded.png">    </p:cNvPr>
          <p:cNvPicPr>
            <a:picLocks noChangeAspect="1"/>
          </p:cNvPicPr>
          <p:nvPr/>
        </p:nvPicPr>
        <p:blipFill>
          <a:blip r:embed="rId3"/>
          <a:stretch>
            <a:fillRect/>
          </a:stretch>
        </p:blipFill>
        <p:spPr>
          <a:xfrm>
            <a:off x="8097926" y="599846"/>
            <a:ext cx="263347" cy="263347"/>
          </a:xfrm>
          <a:prstGeom prst="rect">
            <a:avLst/>
          </a:prstGeom>
        </p:spPr>
      </p:pic>
      <p:sp>
        <p:nvSpPr>
          <p:cNvPr id="12" name="Text 7"/>
          <p:cNvSpPr txBox="1"/>
          <p:nvPr/>
        </p:nvSpPr>
        <p:spPr>
          <a:xfrm>
            <a:off x="5669280" y="3108960"/>
            <a:ext cx="2926080" cy="640080"/>
          </a:xfrm>
          <a:prstGeom prst="rect">
            <a:avLst/>
          </a:prstGeom>
          <a:noFill/>
          <a:ln/>
        </p:spPr>
        <p:txBody>
          <a:bodyPr wrap="square" lIns="0" tIns="0" rIns="0" bIns="0" rtlCol="0" anchor="ctr"/>
          <a:lstStyle/>
          <a:p>
            <a:pPr algn="r" indent="0" marL="0">
              <a:buNone/>
            </a:pPr>
            <a:r>
              <a:rPr lang="en-US" sz="3200" b="1" dirty="0">
                <a:solidFill>
                  <a:srgbClr val="F7B32B"/>
                </a:solidFill>
                <a:latin typeface="Cambria" pitchFamily="34" charset="0"/>
                <a:ea typeface="Cambria" pitchFamily="34" charset="-122"/>
                <a:cs typeface="Cambria" pitchFamily="34" charset="-120"/>
              </a:rPr>
              <a:t>Thank You</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Marketing Campaign Planning &amp; Content Agent</dc:title>
  <dc:subject>PptxGenJS Presentation</dc:subject>
  <dc:creator>PptxGenJS</dc:creator>
  <cp:lastModifiedBy>PptxGenJS</cp:lastModifiedBy>
  <cp:revision>1</cp:revision>
  <dcterms:created xsi:type="dcterms:W3CDTF">2026-09-30T05:26:12Z</dcterms:created>
  <dcterms:modified xsi:type="dcterms:W3CDTF">2026-09-30T05:26:12Z</dcterms:modified>
</cp:coreProperties>
</file>